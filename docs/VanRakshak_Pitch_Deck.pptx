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83F725-3FD1-43E3-8BA9-30A52594DF0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CF91A3D-F6CC-429B-A537-40B60F9676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69A2D588-1176-4391-980E-BC68311684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594C592-307C-47F0-BFA7-F6728B0998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D8EAF964-ADBF-439B-9E16-FADAA2EB8E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FF902142-DB12-4BBC-8C98-86236283FE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79BFE32F-7FA4-4280-AEFF-C6B79DEFC2E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6DA0F270-BE34-4AF9-8041-D6D8003191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C87A19D2-C477-419E-9F14-A199754CB1D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F61C7CD2-9747-44C2-B551-7D9B6017BD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2DF33D9E-B78F-429D-9EC2-D48A7F8EC3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49673A-DBC4-4474-91C2-B0BB06BEE9C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73E16A-12DF-48C4-8D54-0ECD0E0E7B1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9D45794-07F3-4108-8820-45508F2C476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4D7D172-9079-4914-8E26-C1F568F2603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5E85F69-4276-4748-8045-FA224ED3288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88DD9AD-1F3F-410B-8A56-EED6B250DC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2C411EA-50FB-4690-9943-397D7C6BCCE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8239D05-31C0-4FDD-9F63-0069CA5303A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66CFAB9-D141-40F6-B3B0-6B8C585973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IN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IN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DF4A4E8-CEF5-41B9-8229-8A51E10AC1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D9EA694-45DF-48C4-96C7-B5A1B96231F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IN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IN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IN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TextBox 2"/>
          <p:cNvSpPr/>
          <p:nvPr/>
        </p:nvSpPr>
        <p:spPr>
          <a:xfrm>
            <a:off x="914400" y="640080"/>
            <a:ext cx="10332000" cy="136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Calibri"/>
              </a:rPr>
              <a:t>VanRakshak: AI-Enabled Drone Patrolling System for Forest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Calibri"/>
              </a:rPr>
              <a:t>Authorities to Detect Poaching, Illegal Logging,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</a:pPr>
            <a:r>
              <a:rPr b="1" lang="en-US" sz="2600" spc="-1" strike="noStrike">
                <a:solidFill>
                  <a:srgbClr val="0f172a"/>
                </a:solidFill>
                <a:latin typeface="Calibri"/>
              </a:rPr>
              <a:t>and Encroachment in Real Time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Rectangle 3"/>
          <p:cNvSpPr/>
          <p:nvPr/>
        </p:nvSpPr>
        <p:spPr>
          <a:xfrm>
            <a:off x="914400" y="2606040"/>
            <a:ext cx="5165640" cy="456480"/>
          </a:xfrm>
          <a:prstGeom prst="rect">
            <a:avLst/>
          </a:prstGeom>
          <a:solidFill>
            <a:srgbClr val="4a74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Rectangle 4"/>
          <p:cNvSpPr/>
          <p:nvPr/>
        </p:nvSpPr>
        <p:spPr>
          <a:xfrm>
            <a:off x="6080760" y="2606040"/>
            <a:ext cx="5165640" cy="456480"/>
          </a:xfrm>
          <a:prstGeom prst="rect">
            <a:avLst/>
          </a:prstGeom>
          <a:solidFill>
            <a:srgbClr val="4a74c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1051560" y="2679120"/>
            <a:ext cx="48913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Mentored by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Box 6"/>
          <p:cNvSpPr/>
          <p:nvPr/>
        </p:nvSpPr>
        <p:spPr>
          <a:xfrm>
            <a:off x="6217920" y="2679120"/>
            <a:ext cx="48913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Presented by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Rectangle 7"/>
          <p:cNvSpPr/>
          <p:nvPr/>
        </p:nvSpPr>
        <p:spPr>
          <a:xfrm>
            <a:off x="914400" y="306324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Rectangle 8"/>
          <p:cNvSpPr/>
          <p:nvPr/>
        </p:nvSpPr>
        <p:spPr>
          <a:xfrm>
            <a:off x="3497760" y="306324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</a:rPr>
              <a:t>Dr. Rajendra Thilahar C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Rectangle 9"/>
          <p:cNvSpPr/>
          <p:nvPr/>
        </p:nvSpPr>
        <p:spPr>
          <a:xfrm>
            <a:off x="6080760" y="306324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Rectangle 10"/>
          <p:cNvSpPr/>
          <p:nvPr/>
        </p:nvSpPr>
        <p:spPr>
          <a:xfrm>
            <a:off x="8664120" y="306324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Sanjeev  Kumar S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1051560" y="314568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Mentor Name: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6217920" y="314568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Team Lead Name: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ectangle 13"/>
          <p:cNvSpPr/>
          <p:nvPr/>
        </p:nvSpPr>
        <p:spPr>
          <a:xfrm>
            <a:off x="914400" y="348372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3" name="Rectangle 14"/>
          <p:cNvSpPr/>
          <p:nvPr/>
        </p:nvSpPr>
        <p:spPr>
          <a:xfrm>
            <a:off x="3497760" y="348372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4" name="Rectangle 15"/>
          <p:cNvSpPr/>
          <p:nvPr/>
        </p:nvSpPr>
        <p:spPr>
          <a:xfrm>
            <a:off x="6080760" y="348372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Rectangle 16"/>
          <p:cNvSpPr/>
          <p:nvPr/>
        </p:nvSpPr>
        <p:spPr>
          <a:xfrm>
            <a:off x="8664120" y="348372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212224040290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Box 17"/>
          <p:cNvSpPr/>
          <p:nvPr/>
        </p:nvSpPr>
        <p:spPr>
          <a:xfrm>
            <a:off x="1051560" y="356616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Designation of Mentor: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Box 18"/>
          <p:cNvSpPr/>
          <p:nvPr/>
        </p:nvSpPr>
        <p:spPr>
          <a:xfrm>
            <a:off x="6217920" y="356616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Team Lead Reg No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Rectangle 19"/>
          <p:cNvSpPr/>
          <p:nvPr/>
        </p:nvSpPr>
        <p:spPr>
          <a:xfrm>
            <a:off x="914400" y="390456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ectangle 20"/>
          <p:cNvSpPr/>
          <p:nvPr/>
        </p:nvSpPr>
        <p:spPr>
          <a:xfrm>
            <a:off x="3497760" y="390456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Rectangle 21"/>
          <p:cNvSpPr/>
          <p:nvPr/>
        </p:nvSpPr>
        <p:spPr>
          <a:xfrm>
            <a:off x="6080760" y="390456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Rectangle 22"/>
          <p:cNvSpPr/>
          <p:nvPr/>
        </p:nvSpPr>
        <p:spPr>
          <a:xfrm>
            <a:off x="8664120" y="390456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3, CSE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3"/>
          <p:cNvSpPr/>
          <p:nvPr/>
        </p:nvSpPr>
        <p:spPr>
          <a:xfrm>
            <a:off x="1051560" y="398664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Department of Mentor: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4"/>
          <p:cNvSpPr/>
          <p:nvPr/>
        </p:nvSpPr>
        <p:spPr>
          <a:xfrm>
            <a:off x="6217920" y="398664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Year/Department: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Rectangle 25"/>
          <p:cNvSpPr/>
          <p:nvPr/>
        </p:nvSpPr>
        <p:spPr>
          <a:xfrm>
            <a:off x="914400" y="432504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Rectangle 26"/>
          <p:cNvSpPr/>
          <p:nvPr/>
        </p:nvSpPr>
        <p:spPr>
          <a:xfrm>
            <a:off x="3497760" y="432504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</a:rPr>
              <a:t>Saveetha Engineering College</a:t>
            </a:r>
            <a:endParaRPr b="1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angle 27"/>
          <p:cNvSpPr/>
          <p:nvPr/>
        </p:nvSpPr>
        <p:spPr>
          <a:xfrm>
            <a:off x="6080760" y="432504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ectangle 28"/>
          <p:cNvSpPr/>
          <p:nvPr/>
        </p:nvSpPr>
        <p:spPr>
          <a:xfrm>
            <a:off x="8664120" y="432504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</a:rPr>
              <a:t>Saveetha Engineering College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29"/>
          <p:cNvSpPr/>
          <p:nvPr/>
        </p:nvSpPr>
        <p:spPr>
          <a:xfrm>
            <a:off x="1051560" y="440748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College of Mentor: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30"/>
          <p:cNvSpPr/>
          <p:nvPr/>
        </p:nvSpPr>
        <p:spPr>
          <a:xfrm>
            <a:off x="6217920" y="440748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College Name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Rectangle 31"/>
          <p:cNvSpPr/>
          <p:nvPr/>
        </p:nvSpPr>
        <p:spPr>
          <a:xfrm>
            <a:off x="914400" y="474588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Rectangle 32"/>
          <p:cNvSpPr/>
          <p:nvPr/>
        </p:nvSpPr>
        <p:spPr>
          <a:xfrm>
            <a:off x="3497760" y="474588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+91 90920 30227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33"/>
          <p:cNvSpPr/>
          <p:nvPr/>
        </p:nvSpPr>
        <p:spPr>
          <a:xfrm>
            <a:off x="6080760" y="474588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34"/>
          <p:cNvSpPr/>
          <p:nvPr/>
        </p:nvSpPr>
        <p:spPr>
          <a:xfrm>
            <a:off x="8664120" y="4745880"/>
            <a:ext cx="2582640" cy="419760"/>
          </a:xfrm>
          <a:prstGeom prst="rect">
            <a:avLst/>
          </a:prstGeom>
          <a:solidFill>
            <a:srgbClr val="c9d3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8925536470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35"/>
          <p:cNvSpPr/>
          <p:nvPr/>
        </p:nvSpPr>
        <p:spPr>
          <a:xfrm>
            <a:off x="1051560" y="482796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Phone no 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36"/>
          <p:cNvSpPr/>
          <p:nvPr/>
        </p:nvSpPr>
        <p:spPr>
          <a:xfrm>
            <a:off x="6217920" y="482796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Phone no 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angle 37"/>
          <p:cNvSpPr/>
          <p:nvPr/>
        </p:nvSpPr>
        <p:spPr>
          <a:xfrm>
            <a:off x="914400" y="516636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Rectangle 38"/>
          <p:cNvSpPr/>
          <p:nvPr/>
        </p:nvSpPr>
        <p:spPr>
          <a:xfrm>
            <a:off x="3497760" y="516636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ectangle 39"/>
          <p:cNvSpPr/>
          <p:nvPr/>
        </p:nvSpPr>
        <p:spPr>
          <a:xfrm>
            <a:off x="6080760" y="516636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Rectangle 40"/>
          <p:cNvSpPr/>
          <p:nvPr/>
        </p:nvSpPr>
        <p:spPr>
          <a:xfrm>
            <a:off x="8664120" y="5166360"/>
            <a:ext cx="2582640" cy="419760"/>
          </a:xfrm>
          <a:prstGeom prst="rect">
            <a:avLst/>
          </a:prstGeom>
          <a:solidFill>
            <a:srgbClr val="dee4f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500" spc="-1" strike="noStrike">
                <a:solidFill>
                  <a:srgbClr val="000000"/>
                </a:solidFill>
                <a:latin typeface="Calibri"/>
              </a:rPr>
              <a:t>hello@sanjeevkumar.me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41"/>
          <p:cNvSpPr/>
          <p:nvPr/>
        </p:nvSpPr>
        <p:spPr>
          <a:xfrm>
            <a:off x="1051560" y="524880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Email Id: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42"/>
          <p:cNvSpPr/>
          <p:nvPr/>
        </p:nvSpPr>
        <p:spPr>
          <a:xfrm>
            <a:off x="6217920" y="5248800"/>
            <a:ext cx="235404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0f172a"/>
                </a:solidFill>
                <a:latin typeface="Calibri"/>
              </a:rPr>
              <a:t>Email Id: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43"/>
          <p:cNvSpPr/>
          <p:nvPr/>
        </p:nvSpPr>
        <p:spPr>
          <a:xfrm>
            <a:off x="914400" y="6446520"/>
            <a:ext cx="22852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b667a"/>
                </a:solidFill>
                <a:latin typeface="Calibri"/>
              </a:rPr>
              <a:t>07/04/2026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4"/>
          <p:cNvSpPr/>
          <p:nvPr/>
        </p:nvSpPr>
        <p:spPr>
          <a:xfrm>
            <a:off x="3474720" y="6446520"/>
            <a:ext cx="54856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5b667a"/>
                </a:solidFill>
                <a:latin typeface="Calibri"/>
              </a:rPr>
              <a:t>Saveetha Engineering College</a:t>
            </a:r>
            <a:endParaRPr b="0" lang="en-IN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45"/>
          <p:cNvSpPr/>
          <p:nvPr/>
        </p:nvSpPr>
        <p:spPr>
          <a:xfrm>
            <a:off x="10881360" y="6446520"/>
            <a:ext cx="4564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5b667a"/>
                </a:solidFill>
                <a:latin typeface="Calibri"/>
              </a:rPr>
              <a:t>1</a:t>
            </a:r>
            <a:endParaRPr b="0" lang="en-IN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640080" y="868680"/>
            <a:ext cx="54856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VANRAKSHAK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4"/>
          <p:cNvSpPr/>
          <p:nvPr/>
        </p:nvSpPr>
        <p:spPr>
          <a:xfrm>
            <a:off x="640080" y="1965960"/>
            <a:ext cx="9874800" cy="20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Calibri"/>
              </a:rPr>
              <a:t>AI-Enabled Drone Patrolling System for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Calibri"/>
              </a:rPr>
              <a:t>Forest Authorities to Detect Poaching,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Calibri"/>
              </a:rPr>
              <a:t>Illegal Logging, and Encroachment in Real Time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5"/>
          <p:cNvSpPr/>
          <p:nvPr/>
        </p:nvSpPr>
        <p:spPr>
          <a:xfrm>
            <a:off x="640080" y="3977640"/>
            <a:ext cx="822888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7849e"/>
                </a:solidFill>
                <a:latin typeface="Calibri"/>
              </a:rPr>
              <a:t>AI-Powered Autonomous Wildlife Intelligence Platform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6"/>
          <p:cNvSpPr/>
          <p:nvPr/>
        </p:nvSpPr>
        <p:spPr>
          <a:xfrm>
            <a:off x="658440" y="4617720"/>
            <a:ext cx="182808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7"/>
          <p:cNvSpPr/>
          <p:nvPr/>
        </p:nvSpPr>
        <p:spPr>
          <a:xfrm>
            <a:off x="640080" y="5394960"/>
            <a:ext cx="548568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MSME Idea Hackathon 6.0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Theme: Other Frontier Technologies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8"/>
          <p:cNvSpPr/>
          <p:nvPr/>
        </p:nvSpPr>
        <p:spPr>
          <a:xfrm>
            <a:off x="7498080" y="5394960"/>
            <a:ext cx="4022640" cy="5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Saveetha Engineering College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  <a:p>
            <a:pPr algn="r" defTabSz="457200">
              <a:lnSpc>
                <a:spcPct val="13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Department of CSE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VISION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640080" y="822960"/>
            <a:ext cx="10880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Building India's Indigenous Wildlife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Intelligence Platform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angle 4"/>
          <p:cNvSpPr/>
          <p:nvPr/>
        </p:nvSpPr>
        <p:spPr>
          <a:xfrm>
            <a:off x="658440" y="196596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40080" y="2331720"/>
            <a:ext cx="6674400" cy="19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900" spc="-1" strike="noStrike">
                <a:solidFill>
                  <a:srgbClr val="333f55"/>
                </a:solidFill>
                <a:latin typeface="Calibri"/>
              </a:rPr>
              <a:t>To build India's leading indigenous AI-powered wildlife intelligence platform that enables autonomous forest surveillance, protects biodiversity, and assists authorities in preventing poaching, illegal logging, forest fires, and encroachment through real-time edge AI.</a:t>
            </a:r>
            <a:endParaRPr b="0" lang="en-IN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6"/>
          <p:cNvSpPr/>
          <p:nvPr/>
        </p:nvSpPr>
        <p:spPr>
          <a:xfrm>
            <a:off x="7772400" y="2377440"/>
            <a:ext cx="3748320" cy="100512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8046720" y="2487240"/>
            <a:ext cx="18280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8f64"/>
                </a:solidFill>
                <a:latin typeface="Calibri"/>
              </a:rPr>
              <a:t>15 km²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8"/>
          <p:cNvSpPr/>
          <p:nvPr/>
        </p:nvSpPr>
        <p:spPr>
          <a:xfrm>
            <a:off x="8046720" y="2999160"/>
            <a:ext cx="3291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b667a"/>
                </a:solidFill>
                <a:latin typeface="Calibri"/>
              </a:rPr>
              <a:t>Coverage per sortie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Rounded Rectangle 9"/>
          <p:cNvSpPr/>
          <p:nvPr/>
        </p:nvSpPr>
        <p:spPr>
          <a:xfrm>
            <a:off x="7772400" y="3611880"/>
            <a:ext cx="3748320" cy="100512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10"/>
          <p:cNvSpPr/>
          <p:nvPr/>
        </p:nvSpPr>
        <p:spPr>
          <a:xfrm>
            <a:off x="8046720" y="3721680"/>
            <a:ext cx="18280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8f64"/>
                </a:solidFill>
                <a:latin typeface="Calibri"/>
              </a:rPr>
              <a:t>&lt;3 sec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11"/>
          <p:cNvSpPr/>
          <p:nvPr/>
        </p:nvSpPr>
        <p:spPr>
          <a:xfrm>
            <a:off x="8046720" y="4233600"/>
            <a:ext cx="3291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b667a"/>
                </a:solidFill>
                <a:latin typeface="Calibri"/>
              </a:rPr>
              <a:t>Alert latency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ounded Rectangle 12"/>
          <p:cNvSpPr/>
          <p:nvPr/>
        </p:nvSpPr>
        <p:spPr>
          <a:xfrm>
            <a:off x="7772400" y="4846320"/>
            <a:ext cx="3748320" cy="1005120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13"/>
          <p:cNvSpPr/>
          <p:nvPr/>
        </p:nvSpPr>
        <p:spPr>
          <a:xfrm>
            <a:off x="8046720" y="4956120"/>
            <a:ext cx="18280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0b8f64"/>
                </a:solidFill>
                <a:latin typeface="Calibri"/>
              </a:rPr>
              <a:t>95%+</a:t>
            </a:r>
            <a:endParaRPr b="0" lang="en-IN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14"/>
          <p:cNvSpPr/>
          <p:nvPr/>
        </p:nvSpPr>
        <p:spPr>
          <a:xfrm>
            <a:off x="8046720" y="5468040"/>
            <a:ext cx="3291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b667a"/>
                </a:solidFill>
                <a:latin typeface="Calibri"/>
              </a:rPr>
              <a:t>Detection accuracy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Box 15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Box 16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48600" y="36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THE PROBLEM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Forests Are Vast. Surveillance Isn't.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5"/>
          <p:cNvSpPr/>
          <p:nvPr/>
        </p:nvSpPr>
        <p:spPr>
          <a:xfrm>
            <a:off x="639000" y="1565640"/>
            <a:ext cx="10880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500" spc="-1" strike="noStrike">
                <a:solidFill>
                  <a:srgbClr val="5b667a"/>
                </a:solidFill>
                <a:latin typeface="Calibri"/>
              </a:rPr>
              <a:t>India's forests span vast, often inaccessible terrain. Manual patrols, static CCTV, and occasional drone flights leave critical gaps — poaching, illegal logging, encroachment, and early-stage fires go undetected until it's too late.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Rounded Rectangle 6"/>
          <p:cNvSpPr/>
          <p:nvPr/>
        </p:nvSpPr>
        <p:spPr>
          <a:xfrm>
            <a:off x="640080" y="356616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Oval 7"/>
          <p:cNvSpPr/>
          <p:nvPr/>
        </p:nvSpPr>
        <p:spPr>
          <a:xfrm>
            <a:off x="841320" y="374904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8"/>
          <p:cNvSpPr/>
          <p:nvPr/>
        </p:nvSpPr>
        <p:spPr>
          <a:xfrm>
            <a:off x="841320" y="422460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Limited Coverage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9"/>
          <p:cNvSpPr/>
          <p:nvPr/>
        </p:nvSpPr>
        <p:spPr>
          <a:xfrm>
            <a:off x="841320" y="455364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Vast, remote forest terrain is impossible to patrol continuously on foot.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Rounded Rectangle 10"/>
          <p:cNvSpPr/>
          <p:nvPr/>
        </p:nvSpPr>
        <p:spPr>
          <a:xfrm>
            <a:off x="4325040" y="356616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7" name="Oval 11"/>
          <p:cNvSpPr/>
          <p:nvPr/>
        </p:nvSpPr>
        <p:spPr>
          <a:xfrm>
            <a:off x="4526280" y="374904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Box 12"/>
          <p:cNvSpPr/>
          <p:nvPr/>
        </p:nvSpPr>
        <p:spPr>
          <a:xfrm>
            <a:off x="4526280" y="422460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Personnel Shortage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13"/>
          <p:cNvSpPr/>
          <p:nvPr/>
        </p:nvSpPr>
        <p:spPr>
          <a:xfrm>
            <a:off x="4526280" y="455364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Forest departments are chronically understaffed for the area they guard.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Rounded Rectangle 14"/>
          <p:cNvSpPr/>
          <p:nvPr/>
        </p:nvSpPr>
        <p:spPr>
          <a:xfrm>
            <a:off x="8010000" y="356616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1" name="Oval 15"/>
          <p:cNvSpPr/>
          <p:nvPr/>
        </p:nvSpPr>
        <p:spPr>
          <a:xfrm>
            <a:off x="8211240" y="374904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Box 16"/>
          <p:cNvSpPr/>
          <p:nvPr/>
        </p:nvSpPr>
        <p:spPr>
          <a:xfrm>
            <a:off x="8211240" y="422460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Delayed Detection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7"/>
          <p:cNvSpPr/>
          <p:nvPr/>
        </p:nvSpPr>
        <p:spPr>
          <a:xfrm>
            <a:off x="8211240" y="455364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Incidents are discovered hours or days after they occur.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Rounded Rectangle 18"/>
          <p:cNvSpPr/>
          <p:nvPr/>
        </p:nvSpPr>
        <p:spPr>
          <a:xfrm>
            <a:off x="640080" y="530352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5" name="Oval 19"/>
          <p:cNvSpPr/>
          <p:nvPr/>
        </p:nvSpPr>
        <p:spPr>
          <a:xfrm>
            <a:off x="841320" y="548640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Box 20"/>
          <p:cNvSpPr/>
          <p:nvPr/>
        </p:nvSpPr>
        <p:spPr>
          <a:xfrm>
            <a:off x="841320" y="596196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Poor Night Visibility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21"/>
          <p:cNvSpPr/>
          <p:nvPr/>
        </p:nvSpPr>
        <p:spPr>
          <a:xfrm>
            <a:off x="841320" y="629100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Most poaching and logging activity happens after dark.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Rounded Rectangle 22"/>
          <p:cNvSpPr/>
          <p:nvPr/>
        </p:nvSpPr>
        <p:spPr>
          <a:xfrm>
            <a:off x="4325040" y="530352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9" name="Oval 23"/>
          <p:cNvSpPr/>
          <p:nvPr/>
        </p:nvSpPr>
        <p:spPr>
          <a:xfrm>
            <a:off x="4526280" y="548640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Box 24"/>
          <p:cNvSpPr/>
          <p:nvPr/>
        </p:nvSpPr>
        <p:spPr>
          <a:xfrm>
            <a:off x="4526280" y="596196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No Intelligent Analysis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25"/>
          <p:cNvSpPr/>
          <p:nvPr/>
        </p:nvSpPr>
        <p:spPr>
          <a:xfrm>
            <a:off x="4526280" y="629100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Raw footage with no automated threat detection or prioritization.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Rounded Rectangle 26"/>
          <p:cNvSpPr/>
          <p:nvPr/>
        </p:nvSpPr>
        <p:spPr>
          <a:xfrm>
            <a:off x="8010000" y="5303520"/>
            <a:ext cx="3501360" cy="1553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3" name="Oval 27"/>
          <p:cNvSpPr/>
          <p:nvPr/>
        </p:nvSpPr>
        <p:spPr>
          <a:xfrm>
            <a:off x="8211240" y="5486400"/>
            <a:ext cx="365040" cy="365040"/>
          </a:xfrm>
          <a:prstGeom prst="ellipse">
            <a:avLst/>
          </a:prstGeom>
          <a:solidFill>
            <a:srgbClr val="dc333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!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Box 28"/>
          <p:cNvSpPr/>
          <p:nvPr/>
        </p:nvSpPr>
        <p:spPr>
          <a:xfrm>
            <a:off x="8211240" y="5961960"/>
            <a:ext cx="313560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High Patrol Risk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29"/>
          <p:cNvSpPr/>
          <p:nvPr/>
        </p:nvSpPr>
        <p:spPr>
          <a:xfrm>
            <a:off x="8211240" y="6291000"/>
            <a:ext cx="3135600" cy="36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050" spc="-1" strike="noStrike">
                <a:solidFill>
                  <a:srgbClr val="5b667a"/>
                </a:solidFill>
                <a:latin typeface="Calibri"/>
              </a:rPr>
              <a:t>Ground teams face direct physical danger confronting armed poachers.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1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MARKET GAP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Existing Solutions Fall Short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Rectangle 4"/>
          <p:cNvSpPr/>
          <p:nvPr/>
        </p:nvSpPr>
        <p:spPr>
          <a:xfrm>
            <a:off x="658440" y="196596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1" name="Rounded Rectangle 5"/>
          <p:cNvSpPr/>
          <p:nvPr/>
        </p:nvSpPr>
        <p:spPr>
          <a:xfrm>
            <a:off x="640080" y="2468880"/>
            <a:ext cx="10880640" cy="776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914400" y="2615040"/>
            <a:ext cx="27424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Manual Patrol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7"/>
          <p:cNvSpPr/>
          <p:nvPr/>
        </p:nvSpPr>
        <p:spPr>
          <a:xfrm>
            <a:off x="3931920" y="2660760"/>
            <a:ext cx="73144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Low coverage · no night vision · no AI · high human risk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8"/>
          <p:cNvSpPr/>
          <p:nvPr/>
        </p:nvSpPr>
        <p:spPr>
          <a:xfrm>
            <a:off x="640080" y="3429000"/>
            <a:ext cx="10880640" cy="776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914400" y="3575160"/>
            <a:ext cx="27424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Static CCTV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3931920" y="3620880"/>
            <a:ext cx="73144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Fixed coverage · no autonomy · needs manual review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1"/>
          <p:cNvSpPr/>
          <p:nvPr/>
        </p:nvSpPr>
        <p:spPr>
          <a:xfrm>
            <a:off x="640080" y="4389120"/>
            <a:ext cx="10880640" cy="77652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8" name="TextBox 12"/>
          <p:cNvSpPr/>
          <p:nvPr/>
        </p:nvSpPr>
        <p:spPr>
          <a:xfrm>
            <a:off x="914400" y="4535280"/>
            <a:ext cx="274248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Commercial Drones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13"/>
          <p:cNvSpPr/>
          <p:nvPr/>
        </p:nvSpPr>
        <p:spPr>
          <a:xfrm>
            <a:off x="3931920" y="4581000"/>
            <a:ext cx="73144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Records video only — no onboard intelligence or real-time alerts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4"/>
          <p:cNvSpPr/>
          <p:nvPr/>
        </p:nvSpPr>
        <p:spPr>
          <a:xfrm>
            <a:off x="640080" y="5486400"/>
            <a:ext cx="10880640" cy="867960"/>
          </a:xfrm>
          <a:prstGeom prst="roundRect">
            <a:avLst>
              <a:gd name="adj" fmla="val 12000"/>
            </a:avLst>
          </a:prstGeom>
          <a:solidFill>
            <a:srgbClr val="e6fafd"/>
          </a:solidFill>
          <a:ln w="15875">
            <a:solidFill>
              <a:srgbClr val="06b6d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5"/>
          <p:cNvSpPr/>
          <p:nvPr/>
        </p:nvSpPr>
        <p:spPr>
          <a:xfrm>
            <a:off x="914400" y="5632560"/>
            <a:ext cx="10057680" cy="53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1400" spc="-1" strike="noStrike">
                <a:solidFill>
                  <a:srgbClr val="07849e"/>
                </a:solidFill>
                <a:latin typeface="Calibri"/>
              </a:rPr>
              <a:t>The gap: no existing system autonomously detects, classifies, and alerts 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5000"/>
              </a:lnSpc>
            </a:pPr>
            <a:r>
              <a:rPr b="1" lang="en-US" sz="1400" spc="-1" strike="noStrike">
                <a:solidFill>
                  <a:srgbClr val="07849e"/>
                </a:solidFill>
                <a:latin typeface="Calibri"/>
              </a:rPr>
              <a:t>forest threats in real time — that's exactly what VanRakshak delivers.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16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17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PRODUCT OVERVIEW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3"/>
          <p:cNvSpPr/>
          <p:nvPr/>
        </p:nvSpPr>
        <p:spPr>
          <a:xfrm>
            <a:off x="640080" y="822960"/>
            <a:ext cx="108806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f172a"/>
                </a:solidFill>
                <a:latin typeface="Calibri"/>
              </a:rPr>
              <a:t>VanRakshak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640080" y="1508760"/>
            <a:ext cx="685728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i="1" lang="en-US" sz="1500" spc="-1" strike="noStrike">
                <a:solidFill>
                  <a:srgbClr val="07849e"/>
                </a:solidFill>
                <a:latin typeface="Calibri"/>
              </a:rPr>
              <a:t>AI-Powered Autonomous Wildlife Intelligence Platform</a:t>
            </a:r>
            <a:endParaRPr b="0" lang="en-IN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640080" y="2103120"/>
            <a:ext cx="6308640" cy="89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5000"/>
              </a:lnSpc>
            </a:pPr>
            <a:r>
              <a:rPr b="0" lang="en-US" sz="1450" spc="-1" strike="noStrike">
                <a:solidFill>
                  <a:srgbClr val="333f55"/>
                </a:solidFill>
                <a:latin typeface="Calibri"/>
              </a:rPr>
              <a:t>VanRakshak combines autonomous drones, multi-sensor fusion, edge computing, and intelligent threat analytics to monitor forests in real time — turning raw footage into actionable intelligence for forest authorities.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Oval 6"/>
          <p:cNvSpPr/>
          <p:nvPr/>
        </p:nvSpPr>
        <p:spPr>
          <a:xfrm>
            <a:off x="640080" y="397764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1051560" y="399600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Autonomous Drone Patrol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val 8"/>
          <p:cNvSpPr/>
          <p:nvPr/>
        </p:nvSpPr>
        <p:spPr>
          <a:xfrm>
            <a:off x="3886200" y="397764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4297680" y="399600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Multi-Sensor Fusion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val 10"/>
          <p:cNvSpPr/>
          <p:nvPr/>
        </p:nvSpPr>
        <p:spPr>
          <a:xfrm>
            <a:off x="640080" y="448056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1051560" y="449892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Edge AI Inference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Oval 12"/>
          <p:cNvSpPr/>
          <p:nvPr/>
        </p:nvSpPr>
        <p:spPr>
          <a:xfrm>
            <a:off x="3886200" y="448056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4297680" y="449892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Real-Time Threat Detection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Oval 14"/>
          <p:cNvSpPr/>
          <p:nvPr/>
        </p:nvSpPr>
        <p:spPr>
          <a:xfrm>
            <a:off x="640080" y="498348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1051560" y="500184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GPS-Tagged Alerts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Oval 16"/>
          <p:cNvSpPr/>
          <p:nvPr/>
        </p:nvSpPr>
        <p:spPr>
          <a:xfrm>
            <a:off x="3886200" y="4983480"/>
            <a:ext cx="291960" cy="29196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✓</a:t>
            </a:r>
            <a:endParaRPr b="0" lang="en-IN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17"/>
          <p:cNvSpPr/>
          <p:nvPr/>
        </p:nvSpPr>
        <p:spPr>
          <a:xfrm>
            <a:off x="4297680" y="5001840"/>
            <a:ext cx="27424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Mission Planning &amp; Dashboard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Rounded Rectangle 18"/>
          <p:cNvSpPr/>
          <p:nvPr/>
        </p:nvSpPr>
        <p:spPr>
          <a:xfrm>
            <a:off x="7589520" y="2103120"/>
            <a:ext cx="3931200" cy="41140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7909560" y="2331720"/>
            <a:ext cx="329112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7849e"/>
                </a:solidFill>
                <a:latin typeface="Calibri"/>
              </a:rPr>
              <a:t>AT A GLANCE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Box 20"/>
          <p:cNvSpPr/>
          <p:nvPr/>
        </p:nvSpPr>
        <p:spPr>
          <a:xfrm>
            <a:off x="7909560" y="2788920"/>
            <a:ext cx="32911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67a"/>
                </a:solidFill>
                <a:latin typeface="Calibri"/>
              </a:rPr>
              <a:t>Sector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7909560" y="3044880"/>
            <a:ext cx="3291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Other Frontier Technologies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22"/>
          <p:cNvSpPr/>
          <p:nvPr/>
        </p:nvSpPr>
        <p:spPr>
          <a:xfrm>
            <a:off x="7909560" y="3474720"/>
            <a:ext cx="32911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67a"/>
                </a:solidFill>
                <a:latin typeface="Calibri"/>
              </a:rPr>
              <a:t>Prototype Compute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23"/>
          <p:cNvSpPr/>
          <p:nvPr/>
        </p:nvSpPr>
        <p:spPr>
          <a:xfrm>
            <a:off x="7909560" y="3730680"/>
            <a:ext cx="3291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NVIDIA Jetson Orin Nano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7909560" y="4160520"/>
            <a:ext cx="32911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67a"/>
                </a:solidFill>
                <a:latin typeface="Calibri"/>
              </a:rPr>
              <a:t>Core Sensors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7909560" y="4416480"/>
            <a:ext cx="3291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RGB · Thermal · LiDAR · GPS · IMU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26"/>
          <p:cNvSpPr/>
          <p:nvPr/>
        </p:nvSpPr>
        <p:spPr>
          <a:xfrm>
            <a:off x="7909560" y="4846320"/>
            <a:ext cx="32911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67a"/>
                </a:solidFill>
                <a:latin typeface="Calibri"/>
              </a:rPr>
              <a:t>Primary Users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7909560" y="5102280"/>
            <a:ext cx="3291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Forest Departments, National Parks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7909560" y="5532120"/>
            <a:ext cx="329112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5b667a"/>
                </a:solidFill>
                <a:latin typeface="Calibri"/>
              </a:rPr>
              <a:t>Ask</a:t>
            </a:r>
            <a:endParaRPr b="0" lang="en-IN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29"/>
          <p:cNvSpPr/>
          <p:nvPr/>
        </p:nvSpPr>
        <p:spPr>
          <a:xfrm>
            <a:off x="7909560" y="5788080"/>
            <a:ext cx="329112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₹</a:t>
            </a:r>
            <a:r>
              <a:rPr b="0" lang="en-US" sz="1250" spc="-1" strike="noStrike">
                <a:solidFill>
                  <a:srgbClr val="0f172a"/>
                </a:solidFill>
                <a:latin typeface="Calibri"/>
              </a:rPr>
              <a:t>15 Lakhs (MSME Hackathon)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30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Box 31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5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HOW IT WORKS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From Sensor Data to Field Response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Rectangle 4"/>
          <p:cNvSpPr/>
          <p:nvPr/>
        </p:nvSpPr>
        <p:spPr>
          <a:xfrm>
            <a:off x="658440" y="196596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9" name="Rounded Rectangle 5"/>
          <p:cNvSpPr/>
          <p:nvPr/>
        </p:nvSpPr>
        <p:spPr>
          <a:xfrm>
            <a:off x="640080" y="251460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Oval 6"/>
          <p:cNvSpPr/>
          <p:nvPr/>
        </p:nvSpPr>
        <p:spPr>
          <a:xfrm>
            <a:off x="822960" y="267912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822960" y="322776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Patrol mission assigned to the drone fleet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Rounded Rectangle 8"/>
          <p:cNvSpPr/>
          <p:nvPr/>
        </p:nvSpPr>
        <p:spPr>
          <a:xfrm>
            <a:off x="3374280" y="251460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3" name="Oval 9"/>
          <p:cNvSpPr/>
          <p:nvPr/>
        </p:nvSpPr>
        <p:spPr>
          <a:xfrm>
            <a:off x="3557160" y="267912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Box 10"/>
          <p:cNvSpPr/>
          <p:nvPr/>
        </p:nvSpPr>
        <p:spPr>
          <a:xfrm>
            <a:off x="3557160" y="322776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Drone autonomously flies predefined forest routes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Rounded Rectangle 11"/>
          <p:cNvSpPr/>
          <p:nvPr/>
        </p:nvSpPr>
        <p:spPr>
          <a:xfrm>
            <a:off x="6108120" y="251460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Oval 12"/>
          <p:cNvSpPr/>
          <p:nvPr/>
        </p:nvSpPr>
        <p:spPr>
          <a:xfrm>
            <a:off x="6291000" y="267912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Box 13"/>
          <p:cNvSpPr/>
          <p:nvPr/>
        </p:nvSpPr>
        <p:spPr>
          <a:xfrm>
            <a:off x="6291000" y="322776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RGB, thermal &amp; LiDAR sensors capture live data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Rounded Rectangle 14"/>
          <p:cNvSpPr/>
          <p:nvPr/>
        </p:nvSpPr>
        <p:spPr>
          <a:xfrm>
            <a:off x="8842320" y="251460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9" name="Oval 15"/>
          <p:cNvSpPr/>
          <p:nvPr/>
        </p:nvSpPr>
        <p:spPr>
          <a:xfrm>
            <a:off x="9025200" y="267912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Box 16"/>
          <p:cNvSpPr/>
          <p:nvPr/>
        </p:nvSpPr>
        <p:spPr>
          <a:xfrm>
            <a:off x="9025200" y="322776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Edge AI performs onboard inference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ounded Rectangle 17"/>
          <p:cNvSpPr/>
          <p:nvPr/>
        </p:nvSpPr>
        <p:spPr>
          <a:xfrm>
            <a:off x="640080" y="438912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Oval 18"/>
          <p:cNvSpPr/>
          <p:nvPr/>
        </p:nvSpPr>
        <p:spPr>
          <a:xfrm>
            <a:off x="822960" y="455364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Box 19"/>
          <p:cNvSpPr/>
          <p:nvPr/>
        </p:nvSpPr>
        <p:spPr>
          <a:xfrm>
            <a:off x="822960" y="510228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Suspicious activity detected &amp; confidence scored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Rounded Rectangle 20"/>
          <p:cNvSpPr/>
          <p:nvPr/>
        </p:nvSpPr>
        <p:spPr>
          <a:xfrm>
            <a:off x="3374280" y="438912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Oval 21"/>
          <p:cNvSpPr/>
          <p:nvPr/>
        </p:nvSpPr>
        <p:spPr>
          <a:xfrm>
            <a:off x="3557160" y="455364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Box 22"/>
          <p:cNvSpPr/>
          <p:nvPr/>
        </p:nvSpPr>
        <p:spPr>
          <a:xfrm>
            <a:off x="3557160" y="5102280"/>
            <a:ext cx="2221200" cy="63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GPS-tagged alert with image/video evidence generated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ounded Rectangle 23"/>
          <p:cNvSpPr/>
          <p:nvPr/>
        </p:nvSpPr>
        <p:spPr>
          <a:xfrm>
            <a:off x="6108120" y="438912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Oval 24"/>
          <p:cNvSpPr/>
          <p:nvPr/>
        </p:nvSpPr>
        <p:spPr>
          <a:xfrm>
            <a:off x="6291000" y="455364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Box 25"/>
          <p:cNvSpPr/>
          <p:nvPr/>
        </p:nvSpPr>
        <p:spPr>
          <a:xfrm>
            <a:off x="6291000" y="5102280"/>
            <a:ext cx="2221200" cy="42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Alert reaches the Forest Command Dashboard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ounded Rectangle 26"/>
          <p:cNvSpPr/>
          <p:nvPr/>
        </p:nvSpPr>
        <p:spPr>
          <a:xfrm>
            <a:off x="8842320" y="4389120"/>
            <a:ext cx="2586960" cy="16909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Oval 27"/>
          <p:cNvSpPr/>
          <p:nvPr/>
        </p:nvSpPr>
        <p:spPr>
          <a:xfrm>
            <a:off x="9025200" y="4553640"/>
            <a:ext cx="383400" cy="38340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28"/>
          <p:cNvSpPr/>
          <p:nvPr/>
        </p:nvSpPr>
        <p:spPr>
          <a:xfrm>
            <a:off x="9025200" y="5102280"/>
            <a:ext cx="222120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333f55"/>
                </a:solidFill>
                <a:latin typeface="Calibri"/>
              </a:rPr>
              <a:t>Response team is dispatched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29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30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Rectangle 1"/>
          <p:cNvSpPr/>
          <p:nvPr/>
        </p:nvSpPr>
        <p:spPr>
          <a:xfrm>
            <a:off x="4860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TECHNOLOGY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Product Architecture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8" name="Picture 5" descr="architecture.png"/>
          <p:cNvPicPr/>
          <p:nvPr/>
        </p:nvPicPr>
        <p:blipFill>
          <a:blip r:embed="rId1"/>
          <a:stretch/>
        </p:blipFill>
        <p:spPr>
          <a:xfrm>
            <a:off x="914400" y="1440000"/>
            <a:ext cx="1965240" cy="5188680"/>
          </a:xfrm>
          <a:prstGeom prst="rect">
            <a:avLst/>
          </a:prstGeom>
          <a:ln w="0">
            <a:noFill/>
          </a:ln>
        </p:spPr>
      </p:pic>
      <p:sp>
        <p:nvSpPr>
          <p:cNvPr id="229" name="TextBox 6"/>
          <p:cNvSpPr/>
          <p:nvPr/>
        </p:nvSpPr>
        <p:spPr>
          <a:xfrm>
            <a:off x="3014640" y="1828800"/>
            <a:ext cx="8536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Forest Zone → Drone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3014640" y="2121480"/>
            <a:ext cx="8536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Autonomous drone launches to patrol a defined forest zone.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3014640" y="2724840"/>
            <a:ext cx="8536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Multi-Sensor Suite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9"/>
          <p:cNvSpPr/>
          <p:nvPr/>
        </p:nvSpPr>
        <p:spPr>
          <a:xfrm>
            <a:off x="3014640" y="3017520"/>
            <a:ext cx="8536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RGB, thermal, LiDAR &amp; GPS capture a full picture of the terrain.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10"/>
          <p:cNvSpPr/>
          <p:nvPr/>
        </p:nvSpPr>
        <p:spPr>
          <a:xfrm>
            <a:off x="3014640" y="3620880"/>
            <a:ext cx="8536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Edge AI Engine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11"/>
          <p:cNvSpPr/>
          <p:nvPr/>
        </p:nvSpPr>
        <p:spPr>
          <a:xfrm>
            <a:off x="3014640" y="3913560"/>
            <a:ext cx="8536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Onboard inference detects threats without needing constant connectivity.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Box 12"/>
          <p:cNvSpPr/>
          <p:nvPr/>
        </p:nvSpPr>
        <p:spPr>
          <a:xfrm>
            <a:off x="3014640" y="4517280"/>
            <a:ext cx="8536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Alert → Dashboard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Box 13"/>
          <p:cNvSpPr/>
          <p:nvPr/>
        </p:nvSpPr>
        <p:spPr>
          <a:xfrm>
            <a:off x="3014640" y="4809600"/>
            <a:ext cx="8536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Instant, GPS-tagged alerts reach the Forest Command Dashboard.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TextBox 14"/>
          <p:cNvSpPr/>
          <p:nvPr/>
        </p:nvSpPr>
        <p:spPr>
          <a:xfrm>
            <a:off x="3014640" y="5413320"/>
            <a:ext cx="85363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Response Team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TextBox 15"/>
          <p:cNvSpPr/>
          <p:nvPr/>
        </p:nvSpPr>
        <p:spPr>
          <a:xfrm>
            <a:off x="3014640" y="5706000"/>
            <a:ext cx="853632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Officers are dispatched with precise location and visual evidence.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17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TECHNOLOGY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AI Pipeline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640080" y="1463040"/>
            <a:ext cx="5942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4" name="Picture 5" descr="ai-pipeline.png"/>
          <p:cNvPicPr/>
          <p:nvPr/>
        </p:nvPicPr>
        <p:blipFill>
          <a:blip r:embed="rId1"/>
          <a:stretch/>
        </p:blipFill>
        <p:spPr>
          <a:xfrm>
            <a:off x="1097280" y="1463040"/>
            <a:ext cx="2530440" cy="5165640"/>
          </a:xfrm>
          <a:prstGeom prst="rect">
            <a:avLst/>
          </a:prstGeom>
          <a:ln w="0">
            <a:noFill/>
          </a:ln>
        </p:spPr>
      </p:pic>
      <p:sp>
        <p:nvSpPr>
          <p:cNvPr id="245" name="TextBox 6"/>
          <p:cNvSpPr/>
          <p:nvPr/>
        </p:nvSpPr>
        <p:spPr>
          <a:xfrm>
            <a:off x="4268520" y="1828800"/>
            <a:ext cx="728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8f64"/>
                </a:solidFill>
                <a:latin typeface="Calibri"/>
              </a:rPr>
              <a:t>AI Vision Models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7"/>
          <p:cNvSpPr/>
          <p:nvPr/>
        </p:nvSpPr>
        <p:spPr>
          <a:xfrm>
            <a:off x="4268520" y="2121480"/>
            <a:ext cx="7282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YOLO &amp; RT-DETR object detection tuned for forest environments.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8"/>
          <p:cNvSpPr/>
          <p:nvPr/>
        </p:nvSpPr>
        <p:spPr>
          <a:xfrm>
            <a:off x="4268520" y="2743200"/>
            <a:ext cx="728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8f64"/>
                </a:solidFill>
                <a:latin typeface="Calibri"/>
              </a:rPr>
              <a:t>Detect &amp; Track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4268520" y="3035880"/>
            <a:ext cx="7282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Multi-object tracking follows movement across frames.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4268520" y="3657600"/>
            <a:ext cx="728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8f64"/>
                </a:solidFill>
                <a:latin typeface="Calibri"/>
              </a:rPr>
              <a:t>Threat Analysis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1"/>
          <p:cNvSpPr/>
          <p:nvPr/>
        </p:nvSpPr>
        <p:spPr>
          <a:xfrm>
            <a:off x="4268520" y="3950280"/>
            <a:ext cx="7282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Behavioral and contextual signals classify the activity type.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4268520" y="4572000"/>
            <a:ext cx="728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8f64"/>
                </a:solidFill>
                <a:latin typeface="Calibri"/>
              </a:rPr>
              <a:t>Confidence Scoring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4268520" y="4864680"/>
            <a:ext cx="7282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Every detection is scored to minimize false alarms (&lt;5%).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TextBox 14"/>
          <p:cNvSpPr/>
          <p:nvPr/>
        </p:nvSpPr>
        <p:spPr>
          <a:xfrm>
            <a:off x="4268520" y="5486400"/>
            <a:ext cx="728244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b8f64"/>
                </a:solidFill>
                <a:latin typeface="Calibri"/>
              </a:rPr>
              <a:t>Alert Generation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4268520" y="5779080"/>
            <a:ext cx="7282440" cy="21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High-confidence threats trigger GPS-tagged alerts with evidence.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Box 17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8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TECHNOLOGY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Product Ecosystem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640080" y="1463040"/>
            <a:ext cx="82288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VanRakshak is a platform, not just a drone — five connected pillars work together.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0" name="Picture 5" descr="product-ecoosystem.png"/>
          <p:cNvPicPr/>
          <p:nvPr/>
        </p:nvPicPr>
        <p:blipFill>
          <a:blip r:embed="rId1"/>
          <a:stretch/>
        </p:blipFill>
        <p:spPr>
          <a:xfrm>
            <a:off x="838080" y="2377440"/>
            <a:ext cx="10514880" cy="2364840"/>
          </a:xfrm>
          <a:prstGeom prst="rect">
            <a:avLst/>
          </a:prstGeom>
          <a:ln w="0">
            <a:noFill/>
          </a:ln>
        </p:spPr>
      </p:pic>
      <p:sp>
        <p:nvSpPr>
          <p:cNvPr id="261" name="TextBox 6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Box 7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9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TECHNOLOGY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Technology Stack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4"/>
          <p:cNvSpPr/>
          <p:nvPr/>
        </p:nvSpPr>
        <p:spPr>
          <a:xfrm>
            <a:off x="658440" y="196596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Rounded Rectangle 5"/>
          <p:cNvSpPr/>
          <p:nvPr/>
        </p:nvSpPr>
        <p:spPr>
          <a:xfrm>
            <a:off x="640080" y="2286000"/>
            <a:ext cx="2623680" cy="4022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Rectangle 6"/>
          <p:cNvSpPr/>
          <p:nvPr/>
        </p:nvSpPr>
        <p:spPr>
          <a:xfrm>
            <a:off x="640080" y="2286000"/>
            <a:ext cx="2623680" cy="502200"/>
          </a:xfrm>
          <a:prstGeom prst="rect">
            <a:avLst/>
          </a:prstGeom>
          <a:solidFill>
            <a:srgbClr val="e4ec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7"/>
          <p:cNvSpPr/>
          <p:nvPr/>
        </p:nvSpPr>
        <p:spPr>
          <a:xfrm>
            <a:off x="822960" y="2404800"/>
            <a:ext cx="2257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Hardware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Oval 8"/>
          <p:cNvSpPr/>
          <p:nvPr/>
        </p:nvSpPr>
        <p:spPr>
          <a:xfrm>
            <a:off x="822960" y="304488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9"/>
          <p:cNvSpPr/>
          <p:nvPr/>
        </p:nvSpPr>
        <p:spPr>
          <a:xfrm>
            <a:off x="1051560" y="301752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Autonomous Drone Platform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Oval 10"/>
          <p:cNvSpPr/>
          <p:nvPr/>
        </p:nvSpPr>
        <p:spPr>
          <a:xfrm>
            <a:off x="822960" y="354780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Box 11"/>
          <p:cNvSpPr/>
          <p:nvPr/>
        </p:nvSpPr>
        <p:spPr>
          <a:xfrm>
            <a:off x="1051560" y="352044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RGB Camera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Oval 12"/>
          <p:cNvSpPr/>
          <p:nvPr/>
        </p:nvSpPr>
        <p:spPr>
          <a:xfrm>
            <a:off x="822960" y="405072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13"/>
          <p:cNvSpPr/>
          <p:nvPr/>
        </p:nvSpPr>
        <p:spPr>
          <a:xfrm>
            <a:off x="1051560" y="402336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Thermal Camera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Oval 14"/>
          <p:cNvSpPr/>
          <p:nvPr/>
        </p:nvSpPr>
        <p:spPr>
          <a:xfrm>
            <a:off x="822960" y="455364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Box 15"/>
          <p:cNvSpPr/>
          <p:nvPr/>
        </p:nvSpPr>
        <p:spPr>
          <a:xfrm>
            <a:off x="1051560" y="452628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LiDAR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Oval 16"/>
          <p:cNvSpPr/>
          <p:nvPr/>
        </p:nvSpPr>
        <p:spPr>
          <a:xfrm>
            <a:off x="822960" y="505656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17"/>
          <p:cNvSpPr/>
          <p:nvPr/>
        </p:nvSpPr>
        <p:spPr>
          <a:xfrm>
            <a:off x="1051560" y="502920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GPS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Oval 18"/>
          <p:cNvSpPr/>
          <p:nvPr/>
        </p:nvSpPr>
        <p:spPr>
          <a:xfrm>
            <a:off x="822960" y="555948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Box 19"/>
          <p:cNvSpPr/>
          <p:nvPr/>
        </p:nvSpPr>
        <p:spPr>
          <a:xfrm>
            <a:off x="1051560" y="553212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IMU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ounded Rectangle 20"/>
          <p:cNvSpPr/>
          <p:nvPr/>
        </p:nvSpPr>
        <p:spPr>
          <a:xfrm>
            <a:off x="3438000" y="2286000"/>
            <a:ext cx="2623680" cy="4022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Rectangle 21"/>
          <p:cNvSpPr/>
          <p:nvPr/>
        </p:nvSpPr>
        <p:spPr>
          <a:xfrm>
            <a:off x="3438000" y="2286000"/>
            <a:ext cx="2623680" cy="502200"/>
          </a:xfrm>
          <a:prstGeom prst="rect">
            <a:avLst/>
          </a:prstGeom>
          <a:solidFill>
            <a:srgbClr val="e4ec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4" name="TextBox 22"/>
          <p:cNvSpPr/>
          <p:nvPr/>
        </p:nvSpPr>
        <p:spPr>
          <a:xfrm>
            <a:off x="3620880" y="2404800"/>
            <a:ext cx="2257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Edge Computing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Oval 23"/>
          <p:cNvSpPr/>
          <p:nvPr/>
        </p:nvSpPr>
        <p:spPr>
          <a:xfrm>
            <a:off x="3620880" y="304488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24"/>
          <p:cNvSpPr/>
          <p:nvPr/>
        </p:nvSpPr>
        <p:spPr>
          <a:xfrm>
            <a:off x="3849480" y="3017520"/>
            <a:ext cx="2029320" cy="3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Prototype: NVIDIA Jetson Orin Nano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Oval 25"/>
          <p:cNvSpPr/>
          <p:nvPr/>
        </p:nvSpPr>
        <p:spPr>
          <a:xfrm>
            <a:off x="3620880" y="354780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Box 26"/>
          <p:cNvSpPr/>
          <p:nvPr/>
        </p:nvSpPr>
        <p:spPr>
          <a:xfrm>
            <a:off x="3849480" y="352044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Future: FPGA Edge Accelerator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Oval 27"/>
          <p:cNvSpPr/>
          <p:nvPr/>
        </p:nvSpPr>
        <p:spPr>
          <a:xfrm>
            <a:off x="3620880" y="405072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Box 28"/>
          <p:cNvSpPr/>
          <p:nvPr/>
        </p:nvSpPr>
        <p:spPr>
          <a:xfrm>
            <a:off x="3849480" y="402336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Future: Custom AI ASIC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Rounded Rectangle 29"/>
          <p:cNvSpPr/>
          <p:nvPr/>
        </p:nvSpPr>
        <p:spPr>
          <a:xfrm>
            <a:off x="6236280" y="2286000"/>
            <a:ext cx="2623680" cy="4022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2" name="Rectangle 30"/>
          <p:cNvSpPr/>
          <p:nvPr/>
        </p:nvSpPr>
        <p:spPr>
          <a:xfrm>
            <a:off x="6236280" y="2286000"/>
            <a:ext cx="2623680" cy="502200"/>
          </a:xfrm>
          <a:prstGeom prst="rect">
            <a:avLst/>
          </a:prstGeom>
          <a:solidFill>
            <a:srgbClr val="e4ec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31"/>
          <p:cNvSpPr/>
          <p:nvPr/>
        </p:nvSpPr>
        <p:spPr>
          <a:xfrm>
            <a:off x="6419160" y="2404800"/>
            <a:ext cx="2257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Artificial Intelligence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Oval 32"/>
          <p:cNvSpPr/>
          <p:nvPr/>
        </p:nvSpPr>
        <p:spPr>
          <a:xfrm>
            <a:off x="6419160" y="304488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Box 33"/>
          <p:cNvSpPr/>
          <p:nvPr/>
        </p:nvSpPr>
        <p:spPr>
          <a:xfrm>
            <a:off x="6647760" y="301752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YOLO Object Detection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val 34"/>
          <p:cNvSpPr/>
          <p:nvPr/>
        </p:nvSpPr>
        <p:spPr>
          <a:xfrm>
            <a:off x="6419160" y="354780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35"/>
          <p:cNvSpPr/>
          <p:nvPr/>
        </p:nvSpPr>
        <p:spPr>
          <a:xfrm>
            <a:off x="6647760" y="352044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RT-DETR Detection Models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Oval 36"/>
          <p:cNvSpPr/>
          <p:nvPr/>
        </p:nvSpPr>
        <p:spPr>
          <a:xfrm>
            <a:off x="6419160" y="405072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Box 37"/>
          <p:cNvSpPr/>
          <p:nvPr/>
        </p:nvSpPr>
        <p:spPr>
          <a:xfrm>
            <a:off x="6647760" y="402336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Multi-Object Tracking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Oval 38"/>
          <p:cNvSpPr/>
          <p:nvPr/>
        </p:nvSpPr>
        <p:spPr>
          <a:xfrm>
            <a:off x="6419160" y="455364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39"/>
          <p:cNvSpPr/>
          <p:nvPr/>
        </p:nvSpPr>
        <p:spPr>
          <a:xfrm>
            <a:off x="6647760" y="452628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Threat Classification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Rounded Rectangle 40"/>
          <p:cNvSpPr/>
          <p:nvPr/>
        </p:nvSpPr>
        <p:spPr>
          <a:xfrm>
            <a:off x="9034200" y="2286000"/>
            <a:ext cx="2623680" cy="402264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Rectangle 41"/>
          <p:cNvSpPr/>
          <p:nvPr/>
        </p:nvSpPr>
        <p:spPr>
          <a:xfrm>
            <a:off x="9034200" y="2286000"/>
            <a:ext cx="2623680" cy="502200"/>
          </a:xfrm>
          <a:prstGeom prst="rect">
            <a:avLst/>
          </a:prstGeom>
          <a:solidFill>
            <a:srgbClr val="e4ec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4" name="TextBox 42"/>
          <p:cNvSpPr/>
          <p:nvPr/>
        </p:nvSpPr>
        <p:spPr>
          <a:xfrm>
            <a:off x="9217080" y="2404800"/>
            <a:ext cx="22579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50" spc="-1" strike="noStrike">
                <a:solidFill>
                  <a:srgbClr val="07849e"/>
                </a:solidFill>
                <a:latin typeface="Calibri"/>
              </a:rPr>
              <a:t>Platform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Oval 43"/>
          <p:cNvSpPr/>
          <p:nvPr/>
        </p:nvSpPr>
        <p:spPr>
          <a:xfrm>
            <a:off x="9217080" y="304488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Box 44"/>
          <p:cNvSpPr/>
          <p:nvPr/>
        </p:nvSpPr>
        <p:spPr>
          <a:xfrm>
            <a:off x="9445680" y="301752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Forest Intelligence Dashboard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Oval 45"/>
          <p:cNvSpPr/>
          <p:nvPr/>
        </p:nvSpPr>
        <p:spPr>
          <a:xfrm>
            <a:off x="9217080" y="354780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Box 46"/>
          <p:cNvSpPr/>
          <p:nvPr/>
        </p:nvSpPr>
        <p:spPr>
          <a:xfrm>
            <a:off x="9445680" y="352044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Alert Engine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Oval 47"/>
          <p:cNvSpPr/>
          <p:nvPr/>
        </p:nvSpPr>
        <p:spPr>
          <a:xfrm>
            <a:off x="9217080" y="405072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Box 48"/>
          <p:cNvSpPr/>
          <p:nvPr/>
        </p:nvSpPr>
        <p:spPr>
          <a:xfrm>
            <a:off x="9445680" y="402336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Mission Planner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Oval 49"/>
          <p:cNvSpPr/>
          <p:nvPr/>
        </p:nvSpPr>
        <p:spPr>
          <a:xfrm>
            <a:off x="9217080" y="4553640"/>
            <a:ext cx="127440" cy="1274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IN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Box 50"/>
          <p:cNvSpPr/>
          <p:nvPr/>
        </p:nvSpPr>
        <p:spPr>
          <a:xfrm>
            <a:off x="9445680" y="4526280"/>
            <a:ext cx="2029320" cy="18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00" spc="-1" strike="noStrike">
                <a:solidFill>
                  <a:srgbClr val="333f55"/>
                </a:solidFill>
                <a:latin typeface="Calibri"/>
              </a:rPr>
              <a:t>Analytics</a:t>
            </a:r>
            <a:endParaRPr b="0" lang="en-IN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TextBox 51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TextBox 52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COMPETITIVE ADVANTAGE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TextBox 3"/>
          <p:cNvSpPr/>
          <p:nvPr/>
        </p:nvSpPr>
        <p:spPr>
          <a:xfrm>
            <a:off x="640080" y="822960"/>
            <a:ext cx="1088064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Why VanRakshak Wins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Rectangle 4"/>
          <p:cNvSpPr/>
          <p:nvPr/>
        </p:nvSpPr>
        <p:spPr>
          <a:xfrm>
            <a:off x="640080" y="1783080"/>
            <a:ext cx="10880640" cy="565200"/>
          </a:xfrm>
          <a:prstGeom prst="rect">
            <a:avLst/>
          </a:prstGeom>
          <a:solidFill>
            <a:srgbClr val="0f17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777240" y="1911240"/>
            <a:ext cx="265104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Capability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TextBox 6"/>
          <p:cNvSpPr/>
          <p:nvPr/>
        </p:nvSpPr>
        <p:spPr>
          <a:xfrm>
            <a:off x="3611880" y="1911240"/>
            <a:ext cx="1828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Manual Patrol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7"/>
          <p:cNvSpPr/>
          <p:nvPr/>
        </p:nvSpPr>
        <p:spPr>
          <a:xfrm>
            <a:off x="5623560" y="1911240"/>
            <a:ext cx="1828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CCTV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Box 8"/>
          <p:cNvSpPr/>
          <p:nvPr/>
        </p:nvSpPr>
        <p:spPr>
          <a:xfrm>
            <a:off x="7635240" y="1911240"/>
            <a:ext cx="1828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Commercial Drone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TextBox 9"/>
          <p:cNvSpPr/>
          <p:nvPr/>
        </p:nvSpPr>
        <p:spPr>
          <a:xfrm>
            <a:off x="9646920" y="1911240"/>
            <a:ext cx="1828080" cy="19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50" spc="-1" strike="noStrike">
                <a:solidFill>
                  <a:srgbClr val="06b6d4"/>
                </a:solidFill>
                <a:latin typeface="Calibri"/>
              </a:rPr>
              <a:t>VanRakshak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Rectangle 10"/>
          <p:cNvSpPr/>
          <p:nvPr/>
        </p:nvSpPr>
        <p:spPr>
          <a:xfrm>
            <a:off x="640080" y="2349000"/>
            <a:ext cx="1088064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11"/>
          <p:cNvSpPr/>
          <p:nvPr/>
        </p:nvSpPr>
        <p:spPr>
          <a:xfrm>
            <a:off x="777240" y="246780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Coverage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12"/>
          <p:cNvSpPr/>
          <p:nvPr/>
        </p:nvSpPr>
        <p:spPr>
          <a:xfrm>
            <a:off x="3611880" y="24678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Low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13"/>
          <p:cNvSpPr/>
          <p:nvPr/>
        </p:nvSpPr>
        <p:spPr>
          <a:xfrm>
            <a:off x="5623560" y="24678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Fixed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Box 14"/>
          <p:cNvSpPr/>
          <p:nvPr/>
        </p:nvSpPr>
        <p:spPr>
          <a:xfrm>
            <a:off x="7635240" y="24678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Medium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 15"/>
          <p:cNvSpPr/>
          <p:nvPr/>
        </p:nvSpPr>
        <p:spPr>
          <a:xfrm>
            <a:off x="9509760" y="234900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6"/>
          <p:cNvSpPr/>
          <p:nvPr/>
        </p:nvSpPr>
        <p:spPr>
          <a:xfrm>
            <a:off x="9646920" y="24678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High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 17"/>
          <p:cNvSpPr/>
          <p:nvPr/>
        </p:nvSpPr>
        <p:spPr>
          <a:xfrm>
            <a:off x="640080" y="2914560"/>
            <a:ext cx="10880640" cy="565200"/>
          </a:xfrm>
          <a:prstGeom prst="rect">
            <a:avLst/>
          </a:prstGeom>
          <a:solidFill>
            <a:srgbClr val="eaef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18"/>
          <p:cNvSpPr/>
          <p:nvPr/>
        </p:nvSpPr>
        <p:spPr>
          <a:xfrm>
            <a:off x="777240" y="303336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Autonomy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TextBox 19"/>
          <p:cNvSpPr/>
          <p:nvPr/>
        </p:nvSpPr>
        <p:spPr>
          <a:xfrm>
            <a:off x="3611880" y="30333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None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Box 20"/>
          <p:cNvSpPr/>
          <p:nvPr/>
        </p:nvSpPr>
        <p:spPr>
          <a:xfrm>
            <a:off x="5623560" y="30333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None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TextBox 21"/>
          <p:cNvSpPr/>
          <p:nvPr/>
        </p:nvSpPr>
        <p:spPr>
          <a:xfrm>
            <a:off x="7635240" y="30333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Partial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Rectangle 22"/>
          <p:cNvSpPr/>
          <p:nvPr/>
        </p:nvSpPr>
        <p:spPr>
          <a:xfrm>
            <a:off x="9509760" y="291456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7" name="TextBox 23"/>
          <p:cNvSpPr/>
          <p:nvPr/>
        </p:nvSpPr>
        <p:spPr>
          <a:xfrm>
            <a:off x="9646920" y="30333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Full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Rectangle 24"/>
          <p:cNvSpPr/>
          <p:nvPr/>
        </p:nvSpPr>
        <p:spPr>
          <a:xfrm>
            <a:off x="640080" y="3480480"/>
            <a:ext cx="1088064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9" name="TextBox 25"/>
          <p:cNvSpPr/>
          <p:nvPr/>
        </p:nvSpPr>
        <p:spPr>
          <a:xfrm>
            <a:off x="777240" y="359928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Night Vision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Box 26"/>
          <p:cNvSpPr/>
          <p:nvPr/>
        </p:nvSpPr>
        <p:spPr>
          <a:xfrm>
            <a:off x="3611880" y="35992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TextBox 27"/>
          <p:cNvSpPr/>
          <p:nvPr/>
        </p:nvSpPr>
        <p:spPr>
          <a:xfrm>
            <a:off x="5623560" y="35992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Limited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Box 28"/>
          <p:cNvSpPr/>
          <p:nvPr/>
        </p:nvSpPr>
        <p:spPr>
          <a:xfrm>
            <a:off x="7635240" y="35992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Rare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ectangle 29"/>
          <p:cNvSpPr/>
          <p:nvPr/>
        </p:nvSpPr>
        <p:spPr>
          <a:xfrm>
            <a:off x="9509760" y="348048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TextBox 30"/>
          <p:cNvSpPr/>
          <p:nvPr/>
        </p:nvSpPr>
        <p:spPr>
          <a:xfrm>
            <a:off x="9646920" y="35992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Yes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31"/>
          <p:cNvSpPr/>
          <p:nvPr/>
        </p:nvSpPr>
        <p:spPr>
          <a:xfrm>
            <a:off x="640080" y="4046400"/>
            <a:ext cx="10880640" cy="565200"/>
          </a:xfrm>
          <a:prstGeom prst="rect">
            <a:avLst/>
          </a:prstGeom>
          <a:solidFill>
            <a:srgbClr val="eaef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32"/>
          <p:cNvSpPr/>
          <p:nvPr/>
        </p:nvSpPr>
        <p:spPr>
          <a:xfrm>
            <a:off x="777240" y="416520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AI Detection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TextBox 33"/>
          <p:cNvSpPr/>
          <p:nvPr/>
        </p:nvSpPr>
        <p:spPr>
          <a:xfrm>
            <a:off x="3611880" y="41652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Box 34"/>
          <p:cNvSpPr/>
          <p:nvPr/>
        </p:nvSpPr>
        <p:spPr>
          <a:xfrm>
            <a:off x="5623560" y="41652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TextBox 35"/>
          <p:cNvSpPr/>
          <p:nvPr/>
        </p:nvSpPr>
        <p:spPr>
          <a:xfrm>
            <a:off x="7635240" y="41652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Rectangle 36"/>
          <p:cNvSpPr/>
          <p:nvPr/>
        </p:nvSpPr>
        <p:spPr>
          <a:xfrm>
            <a:off x="9509760" y="404640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1" name="TextBox 37"/>
          <p:cNvSpPr/>
          <p:nvPr/>
        </p:nvSpPr>
        <p:spPr>
          <a:xfrm>
            <a:off x="9646920" y="41652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Yes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Rectangle 38"/>
          <p:cNvSpPr/>
          <p:nvPr/>
        </p:nvSpPr>
        <p:spPr>
          <a:xfrm>
            <a:off x="640080" y="4611960"/>
            <a:ext cx="1088064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3" name="TextBox 39"/>
          <p:cNvSpPr/>
          <p:nvPr/>
        </p:nvSpPr>
        <p:spPr>
          <a:xfrm>
            <a:off x="777240" y="473076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Edge Computing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TextBox 40"/>
          <p:cNvSpPr/>
          <p:nvPr/>
        </p:nvSpPr>
        <p:spPr>
          <a:xfrm>
            <a:off x="3611880" y="47307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TextBox 41"/>
          <p:cNvSpPr/>
          <p:nvPr/>
        </p:nvSpPr>
        <p:spPr>
          <a:xfrm>
            <a:off x="5623560" y="47307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42"/>
          <p:cNvSpPr/>
          <p:nvPr/>
        </p:nvSpPr>
        <p:spPr>
          <a:xfrm>
            <a:off x="7635240" y="47307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ectangle 43"/>
          <p:cNvSpPr/>
          <p:nvPr/>
        </p:nvSpPr>
        <p:spPr>
          <a:xfrm>
            <a:off x="9509760" y="461196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8" name="TextBox 44"/>
          <p:cNvSpPr/>
          <p:nvPr/>
        </p:nvSpPr>
        <p:spPr>
          <a:xfrm>
            <a:off x="9646920" y="473076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Yes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Rectangle 45"/>
          <p:cNvSpPr/>
          <p:nvPr/>
        </p:nvSpPr>
        <p:spPr>
          <a:xfrm>
            <a:off x="640080" y="5177880"/>
            <a:ext cx="10880640" cy="565200"/>
          </a:xfrm>
          <a:prstGeom prst="rect">
            <a:avLst/>
          </a:prstGeom>
          <a:solidFill>
            <a:srgbClr val="eaeff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0" name="TextBox 46"/>
          <p:cNvSpPr/>
          <p:nvPr/>
        </p:nvSpPr>
        <p:spPr>
          <a:xfrm>
            <a:off x="777240" y="529668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Real-time Alerts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TextBox 47"/>
          <p:cNvSpPr/>
          <p:nvPr/>
        </p:nvSpPr>
        <p:spPr>
          <a:xfrm>
            <a:off x="3611880" y="52966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TextBox 48"/>
          <p:cNvSpPr/>
          <p:nvPr/>
        </p:nvSpPr>
        <p:spPr>
          <a:xfrm>
            <a:off x="5623560" y="52966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Box 49"/>
          <p:cNvSpPr/>
          <p:nvPr/>
        </p:nvSpPr>
        <p:spPr>
          <a:xfrm>
            <a:off x="7635240" y="52966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ectangle 50"/>
          <p:cNvSpPr/>
          <p:nvPr/>
        </p:nvSpPr>
        <p:spPr>
          <a:xfrm>
            <a:off x="9509760" y="517788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TextBox 51"/>
          <p:cNvSpPr/>
          <p:nvPr/>
        </p:nvSpPr>
        <p:spPr>
          <a:xfrm>
            <a:off x="9646920" y="529668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Yes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ectangle 52"/>
          <p:cNvSpPr/>
          <p:nvPr/>
        </p:nvSpPr>
        <p:spPr>
          <a:xfrm>
            <a:off x="640080" y="5743440"/>
            <a:ext cx="10880640" cy="565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TextBox 53"/>
          <p:cNvSpPr/>
          <p:nvPr/>
        </p:nvSpPr>
        <p:spPr>
          <a:xfrm>
            <a:off x="777240" y="5862600"/>
            <a:ext cx="265104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Continuous Monitoring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Box 54"/>
          <p:cNvSpPr/>
          <p:nvPr/>
        </p:nvSpPr>
        <p:spPr>
          <a:xfrm>
            <a:off x="3611880" y="58626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TextBox 55"/>
          <p:cNvSpPr/>
          <p:nvPr/>
        </p:nvSpPr>
        <p:spPr>
          <a:xfrm>
            <a:off x="5623560" y="58626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Partial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TextBox 56"/>
          <p:cNvSpPr/>
          <p:nvPr/>
        </p:nvSpPr>
        <p:spPr>
          <a:xfrm>
            <a:off x="7635240" y="58626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556075"/>
                </a:solidFill>
                <a:latin typeface="Calibri"/>
              </a:rPr>
              <a:t>No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Rectangle 57"/>
          <p:cNvSpPr/>
          <p:nvPr/>
        </p:nvSpPr>
        <p:spPr>
          <a:xfrm>
            <a:off x="9509760" y="5743440"/>
            <a:ext cx="2010960" cy="565200"/>
          </a:xfrm>
          <a:prstGeom prst="rect">
            <a:avLst/>
          </a:prstGeom>
          <a:solidFill>
            <a:srgbClr val="e1f7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TextBox 58"/>
          <p:cNvSpPr/>
          <p:nvPr/>
        </p:nvSpPr>
        <p:spPr>
          <a:xfrm>
            <a:off x="9646920" y="5862600"/>
            <a:ext cx="18280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b8f64"/>
                </a:solidFill>
                <a:latin typeface="Calibri"/>
              </a:rPr>
              <a:t>Yes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Box 59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TextBox 60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11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Box 374"/>
          <p:cNvSpPr txBox="1"/>
          <p:nvPr/>
        </p:nvSpPr>
        <p:spPr>
          <a:xfrm>
            <a:off x="731520" y="57607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5A82"/>
                </a:solidFill>
              </a:defRPr>
            </a:pPr>
            <a:r>
              <a:t>Patent-Backed IP: Application No. 202341070952 A | Published: 03/11/2023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6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MARKET OPPORTUNITY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3"/>
          <p:cNvSpPr/>
          <p:nvPr/>
        </p:nvSpPr>
        <p:spPr>
          <a:xfrm>
            <a:off x="640080" y="822960"/>
            <a:ext cx="10880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Who We Serve, and Why It Matters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ounded Rectangle 4"/>
          <p:cNvSpPr/>
          <p:nvPr/>
        </p:nvSpPr>
        <p:spPr>
          <a:xfrm>
            <a:off x="640080" y="1965960"/>
            <a:ext cx="5257080" cy="1965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Oval 5"/>
          <p:cNvSpPr/>
          <p:nvPr/>
        </p:nvSpPr>
        <p:spPr>
          <a:xfrm>
            <a:off x="914400" y="2221920"/>
            <a:ext cx="456480" cy="456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Box 6"/>
          <p:cNvSpPr/>
          <p:nvPr/>
        </p:nvSpPr>
        <p:spPr>
          <a:xfrm>
            <a:off x="1554480" y="2240280"/>
            <a:ext cx="406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Target Customers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7"/>
          <p:cNvSpPr/>
          <p:nvPr/>
        </p:nvSpPr>
        <p:spPr>
          <a:xfrm>
            <a:off x="914400" y="2834640"/>
            <a:ext cx="4708440" cy="65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State Forest Departments, Wildlife Protection Authorities, National Parks; expanding to NGOs, eco-tourism, mining, railways &amp; disaster management.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ounded Rectangle 8"/>
          <p:cNvSpPr/>
          <p:nvPr/>
        </p:nvSpPr>
        <p:spPr>
          <a:xfrm>
            <a:off x="6263640" y="1965960"/>
            <a:ext cx="5257080" cy="1965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3" name="Oval 9"/>
          <p:cNvSpPr/>
          <p:nvPr/>
        </p:nvSpPr>
        <p:spPr>
          <a:xfrm>
            <a:off x="6537960" y="2221920"/>
            <a:ext cx="456480" cy="456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Box 10"/>
          <p:cNvSpPr/>
          <p:nvPr/>
        </p:nvSpPr>
        <p:spPr>
          <a:xfrm>
            <a:off x="7178040" y="2240280"/>
            <a:ext cx="406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Pain Points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TextBox 11"/>
          <p:cNvSpPr/>
          <p:nvPr/>
        </p:nvSpPr>
        <p:spPr>
          <a:xfrm>
            <a:off x="6537960" y="2834640"/>
            <a:ext cx="4708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Vast unmonitored terrain, staff shortages, delayed incident detection, and dangerous manual patrols in remote regions.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Rounded Rectangle 12"/>
          <p:cNvSpPr/>
          <p:nvPr/>
        </p:nvSpPr>
        <p:spPr>
          <a:xfrm>
            <a:off x="640080" y="4206240"/>
            <a:ext cx="5257080" cy="1965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7" name="Oval 13"/>
          <p:cNvSpPr/>
          <p:nvPr/>
        </p:nvSpPr>
        <p:spPr>
          <a:xfrm>
            <a:off x="914400" y="4462200"/>
            <a:ext cx="456480" cy="456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Box 14"/>
          <p:cNvSpPr/>
          <p:nvPr/>
        </p:nvSpPr>
        <p:spPr>
          <a:xfrm>
            <a:off x="1554480" y="4480560"/>
            <a:ext cx="406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Value Proposition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TextBox 15"/>
          <p:cNvSpPr/>
          <p:nvPr/>
        </p:nvSpPr>
        <p:spPr>
          <a:xfrm>
            <a:off x="914400" y="5074920"/>
            <a:ext cx="4708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Continuous autonomous monitoring with real-time AI threat detection — faster response, lower risk, wider coverage.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Rounded Rectangle 16"/>
          <p:cNvSpPr/>
          <p:nvPr/>
        </p:nvSpPr>
        <p:spPr>
          <a:xfrm>
            <a:off x="6263640" y="4206240"/>
            <a:ext cx="5257080" cy="1965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1" name="Oval 17"/>
          <p:cNvSpPr/>
          <p:nvPr/>
        </p:nvSpPr>
        <p:spPr>
          <a:xfrm>
            <a:off x="6537960" y="4462200"/>
            <a:ext cx="456480" cy="45648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Box 18"/>
          <p:cNvSpPr/>
          <p:nvPr/>
        </p:nvSpPr>
        <p:spPr>
          <a:xfrm>
            <a:off x="7178040" y="4480560"/>
            <a:ext cx="406836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f172a"/>
                </a:solidFill>
                <a:latin typeface="Calibri"/>
              </a:rPr>
              <a:t>Revenue Opportunity</a:t>
            </a:r>
            <a:endParaRPr b="0" lang="en-IN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TextBox 19"/>
          <p:cNvSpPr/>
          <p:nvPr/>
        </p:nvSpPr>
        <p:spPr>
          <a:xfrm>
            <a:off x="6537960" y="5074920"/>
            <a:ext cx="470844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Rising government investment in AI, drones &amp; smart conservation technology fuels demand for scalable indigenous platforms.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TextBox 20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TextBox 21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12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BUSINESS MODEL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TextBox 3"/>
          <p:cNvSpPr/>
          <p:nvPr/>
        </p:nvSpPr>
        <p:spPr>
          <a:xfrm>
            <a:off x="640080" y="822960"/>
            <a:ext cx="10880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Multiple Revenue Streams, Built for Scale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Rectangle 4"/>
          <p:cNvSpPr/>
          <p:nvPr/>
        </p:nvSpPr>
        <p:spPr>
          <a:xfrm>
            <a:off x="658440" y="182880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0" name="Rounded Rectangle 5"/>
          <p:cNvSpPr/>
          <p:nvPr/>
        </p:nvSpPr>
        <p:spPr>
          <a:xfrm>
            <a:off x="640080" y="2194560"/>
            <a:ext cx="5211360" cy="3656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1" name="TextBox 6"/>
          <p:cNvSpPr/>
          <p:nvPr/>
        </p:nvSpPr>
        <p:spPr>
          <a:xfrm>
            <a:off x="960120" y="2423160"/>
            <a:ext cx="45712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PRIMARY REVENUE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Oval 7"/>
          <p:cNvSpPr/>
          <p:nvPr/>
        </p:nvSpPr>
        <p:spPr>
          <a:xfrm>
            <a:off x="960120" y="2971800"/>
            <a:ext cx="328320" cy="328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₹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Box 8"/>
          <p:cNvSpPr/>
          <p:nvPr/>
        </p:nvSpPr>
        <p:spPr>
          <a:xfrm>
            <a:off x="1417320" y="3017520"/>
            <a:ext cx="42055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0f172a"/>
                </a:solidFill>
                <a:latin typeface="Calibri"/>
              </a:rPr>
              <a:t>Drone Hardware Sales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Oval 9"/>
          <p:cNvSpPr/>
          <p:nvPr/>
        </p:nvSpPr>
        <p:spPr>
          <a:xfrm>
            <a:off x="960120" y="3749040"/>
            <a:ext cx="328320" cy="32832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₹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Box 10"/>
          <p:cNvSpPr/>
          <p:nvPr/>
        </p:nvSpPr>
        <p:spPr>
          <a:xfrm>
            <a:off x="1417320" y="3794760"/>
            <a:ext cx="42055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50" spc="-1" strike="noStrike">
                <a:solidFill>
                  <a:srgbClr val="0f172a"/>
                </a:solidFill>
                <a:latin typeface="Calibri"/>
              </a:rPr>
              <a:t>Drone-as-a-Service (DaaS)</a:t>
            </a:r>
            <a:endParaRPr b="0" lang="en-IN" sz="14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ounded Rectangle 11"/>
          <p:cNvSpPr/>
          <p:nvPr/>
        </p:nvSpPr>
        <p:spPr>
          <a:xfrm>
            <a:off x="6263640" y="2194560"/>
            <a:ext cx="5257080" cy="36568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TextBox 12"/>
          <p:cNvSpPr/>
          <p:nvPr/>
        </p:nvSpPr>
        <p:spPr>
          <a:xfrm>
            <a:off x="6583680" y="2423160"/>
            <a:ext cx="45712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b8f64"/>
                </a:solidFill>
                <a:latin typeface="Calibri"/>
              </a:rPr>
              <a:t>RECURRING REVENUE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Oval 13"/>
          <p:cNvSpPr/>
          <p:nvPr/>
        </p:nvSpPr>
        <p:spPr>
          <a:xfrm>
            <a:off x="6583680" y="2971800"/>
            <a:ext cx="328320" cy="328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↻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Box 14"/>
          <p:cNvSpPr/>
          <p:nvPr/>
        </p:nvSpPr>
        <p:spPr>
          <a:xfrm>
            <a:off x="7040880" y="3017520"/>
            <a:ext cx="420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Annual Maintenance Contracts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Oval 15"/>
          <p:cNvSpPr/>
          <p:nvPr/>
        </p:nvSpPr>
        <p:spPr>
          <a:xfrm>
            <a:off x="6583680" y="3593520"/>
            <a:ext cx="328320" cy="328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↻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Box 16"/>
          <p:cNvSpPr/>
          <p:nvPr/>
        </p:nvSpPr>
        <p:spPr>
          <a:xfrm>
            <a:off x="7040880" y="3639240"/>
            <a:ext cx="420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AI Analytics Subscription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Oval 17"/>
          <p:cNvSpPr/>
          <p:nvPr/>
        </p:nvSpPr>
        <p:spPr>
          <a:xfrm>
            <a:off x="6583680" y="4215240"/>
            <a:ext cx="328320" cy="328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↻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Box 18"/>
          <p:cNvSpPr/>
          <p:nvPr/>
        </p:nvSpPr>
        <p:spPr>
          <a:xfrm>
            <a:off x="7040880" y="4260960"/>
            <a:ext cx="420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Training Programs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Oval 19"/>
          <p:cNvSpPr/>
          <p:nvPr/>
        </p:nvSpPr>
        <p:spPr>
          <a:xfrm>
            <a:off x="6583680" y="4837320"/>
            <a:ext cx="328320" cy="32832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↻</a:t>
            </a:r>
            <a:endParaRPr b="0" lang="en-IN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Box 20"/>
          <p:cNvSpPr/>
          <p:nvPr/>
        </p:nvSpPr>
        <p:spPr>
          <a:xfrm>
            <a:off x="7040880" y="4883040"/>
            <a:ext cx="420552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0f172a"/>
                </a:solidFill>
                <a:latin typeface="Calibri"/>
              </a:rPr>
              <a:t>Government Contracts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TextBox 21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Box 22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13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9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ROADMAP · 2026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TextBox 3"/>
          <p:cNvSpPr/>
          <p:nvPr/>
        </p:nvSpPr>
        <p:spPr>
          <a:xfrm>
            <a:off x="640080" y="822960"/>
            <a:ext cx="10880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From Prototype to National Deployment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Rectangle 4"/>
          <p:cNvSpPr/>
          <p:nvPr/>
        </p:nvSpPr>
        <p:spPr>
          <a:xfrm>
            <a:off x="822960" y="3657600"/>
            <a:ext cx="10514880" cy="24840"/>
          </a:xfrm>
          <a:prstGeom prst="rect">
            <a:avLst/>
          </a:prstGeom>
          <a:solidFill>
            <a:srgbClr val="d5dc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9440" bIns="-194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2" name="Oval 5"/>
          <p:cNvSpPr/>
          <p:nvPr/>
        </p:nvSpPr>
        <p:spPr>
          <a:xfrm>
            <a:off x="694800" y="3529440"/>
            <a:ext cx="255240" cy="25524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0" y="260604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Prototype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Oval 7"/>
          <p:cNvSpPr/>
          <p:nvPr/>
        </p:nvSpPr>
        <p:spPr>
          <a:xfrm>
            <a:off x="2797920" y="3529440"/>
            <a:ext cx="255240" cy="255240"/>
          </a:xfrm>
          <a:prstGeom prst="ellipse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TextBox 8"/>
          <p:cNvSpPr/>
          <p:nvPr/>
        </p:nvSpPr>
        <p:spPr>
          <a:xfrm>
            <a:off x="2103120" y="397764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Pilot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Oval 9"/>
          <p:cNvSpPr/>
          <p:nvPr/>
        </p:nvSpPr>
        <p:spPr>
          <a:xfrm>
            <a:off x="4901040" y="3529440"/>
            <a:ext cx="255240" cy="255240"/>
          </a:xfrm>
          <a:prstGeom prst="ellipse">
            <a:avLst/>
          </a:prstGeom>
          <a:solidFill>
            <a:srgbClr val="b9c3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7" name="TextBox 10"/>
          <p:cNvSpPr/>
          <p:nvPr/>
        </p:nvSpPr>
        <p:spPr>
          <a:xfrm>
            <a:off x="4206240" y="2606040"/>
            <a:ext cx="164520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Forest Trials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Oval 11"/>
          <p:cNvSpPr/>
          <p:nvPr/>
        </p:nvSpPr>
        <p:spPr>
          <a:xfrm>
            <a:off x="7004160" y="3529440"/>
            <a:ext cx="255240" cy="255240"/>
          </a:xfrm>
          <a:prstGeom prst="ellipse">
            <a:avLst/>
          </a:prstGeom>
          <a:solidFill>
            <a:srgbClr val="b9c3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9" name="TextBox 12"/>
          <p:cNvSpPr/>
          <p:nvPr/>
        </p:nvSpPr>
        <p:spPr>
          <a:xfrm>
            <a:off x="6309360" y="3977640"/>
            <a:ext cx="1645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Commercial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Product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Oval 13"/>
          <p:cNvSpPr/>
          <p:nvPr/>
        </p:nvSpPr>
        <p:spPr>
          <a:xfrm>
            <a:off x="9107280" y="3529440"/>
            <a:ext cx="255240" cy="255240"/>
          </a:xfrm>
          <a:prstGeom prst="ellipse">
            <a:avLst/>
          </a:prstGeom>
          <a:solidFill>
            <a:srgbClr val="b9c3d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1" name="TextBox 14"/>
          <p:cNvSpPr/>
          <p:nvPr/>
        </p:nvSpPr>
        <p:spPr>
          <a:xfrm>
            <a:off x="8412480" y="2606040"/>
            <a:ext cx="1645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Multi-State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Deployment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Oval 15"/>
          <p:cNvSpPr/>
          <p:nvPr/>
        </p:nvSpPr>
        <p:spPr>
          <a:xfrm>
            <a:off x="11210400" y="3529440"/>
            <a:ext cx="255240" cy="2552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3" name="TextBox 16"/>
          <p:cNvSpPr/>
          <p:nvPr/>
        </p:nvSpPr>
        <p:spPr>
          <a:xfrm>
            <a:off x="10515600" y="3977640"/>
            <a:ext cx="1645200" cy="4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National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Expansion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TextBox 17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Box 18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14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7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FUNDING ASK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TextBox 3"/>
          <p:cNvSpPr/>
          <p:nvPr/>
        </p:nvSpPr>
        <p:spPr>
          <a:xfrm>
            <a:off x="640080" y="822960"/>
            <a:ext cx="1088064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0f172a"/>
                </a:solidFill>
                <a:latin typeface="Calibri"/>
              </a:rPr>
              <a:t>Seeking ₹15 Lakhs</a:t>
            </a:r>
            <a:endParaRPr b="0" lang="en-IN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TextBox 4"/>
          <p:cNvSpPr/>
          <p:nvPr/>
        </p:nvSpPr>
        <p:spPr>
          <a:xfrm>
            <a:off x="640080" y="155448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5b667a"/>
                </a:solidFill>
                <a:latin typeface="Calibri"/>
              </a:rPr>
              <a:t>MSME Idea Hackathon 6.0 — Proposed Allocation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TextBox 5"/>
          <p:cNvSpPr/>
          <p:nvPr/>
        </p:nvSpPr>
        <p:spPr>
          <a:xfrm>
            <a:off x="640080" y="228600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Drone Hardware &amp; Prototype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Rounded Rectangle 6"/>
          <p:cNvSpPr/>
          <p:nvPr/>
        </p:nvSpPr>
        <p:spPr>
          <a:xfrm>
            <a:off x="640080" y="254196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Rounded Rectangle 7"/>
          <p:cNvSpPr/>
          <p:nvPr/>
        </p:nvSpPr>
        <p:spPr>
          <a:xfrm>
            <a:off x="640080" y="254196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3" name="TextBox 8"/>
          <p:cNvSpPr/>
          <p:nvPr/>
        </p:nvSpPr>
        <p:spPr>
          <a:xfrm>
            <a:off x="7452360" y="250560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35%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Box 9"/>
          <p:cNvSpPr/>
          <p:nvPr/>
        </p:nvSpPr>
        <p:spPr>
          <a:xfrm>
            <a:off x="640080" y="293508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AI Model Development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Rounded Rectangle 10"/>
          <p:cNvSpPr/>
          <p:nvPr/>
        </p:nvSpPr>
        <p:spPr>
          <a:xfrm>
            <a:off x="640080" y="319140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6" name="Rounded Rectangle 11"/>
          <p:cNvSpPr/>
          <p:nvPr/>
        </p:nvSpPr>
        <p:spPr>
          <a:xfrm>
            <a:off x="640080" y="3191400"/>
            <a:ext cx="4767120" cy="2005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TextBox 12"/>
          <p:cNvSpPr/>
          <p:nvPr/>
        </p:nvSpPr>
        <p:spPr>
          <a:xfrm>
            <a:off x="7452360" y="315468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25%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TextBox 13"/>
          <p:cNvSpPr/>
          <p:nvPr/>
        </p:nvSpPr>
        <p:spPr>
          <a:xfrm>
            <a:off x="640080" y="358452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Edge Computing Hardware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Rounded Rectangle 14"/>
          <p:cNvSpPr/>
          <p:nvPr/>
        </p:nvSpPr>
        <p:spPr>
          <a:xfrm>
            <a:off x="640080" y="384048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0" name="Rounded Rectangle 15"/>
          <p:cNvSpPr/>
          <p:nvPr/>
        </p:nvSpPr>
        <p:spPr>
          <a:xfrm>
            <a:off x="640080" y="3840480"/>
            <a:ext cx="2860200" cy="20052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1" name="TextBox 16"/>
          <p:cNvSpPr/>
          <p:nvPr/>
        </p:nvSpPr>
        <p:spPr>
          <a:xfrm>
            <a:off x="7452360" y="380376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15%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TextBox 17"/>
          <p:cNvSpPr/>
          <p:nvPr/>
        </p:nvSpPr>
        <p:spPr>
          <a:xfrm>
            <a:off x="640080" y="423360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Dashboard Development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Rounded Rectangle 18"/>
          <p:cNvSpPr/>
          <p:nvPr/>
        </p:nvSpPr>
        <p:spPr>
          <a:xfrm>
            <a:off x="640080" y="448956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4" name="Rounded Rectangle 19"/>
          <p:cNvSpPr/>
          <p:nvPr/>
        </p:nvSpPr>
        <p:spPr>
          <a:xfrm>
            <a:off x="640080" y="4489560"/>
            <a:ext cx="1906560" cy="2005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5" name="TextBox 20"/>
          <p:cNvSpPr/>
          <p:nvPr/>
        </p:nvSpPr>
        <p:spPr>
          <a:xfrm>
            <a:off x="7452360" y="445320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10%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Box 21"/>
          <p:cNvSpPr/>
          <p:nvPr/>
        </p:nvSpPr>
        <p:spPr>
          <a:xfrm>
            <a:off x="640080" y="488304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Field Testing &amp; Validation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Rounded Rectangle 22"/>
          <p:cNvSpPr/>
          <p:nvPr/>
        </p:nvSpPr>
        <p:spPr>
          <a:xfrm>
            <a:off x="640080" y="513900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8" name="Rounded Rectangle 23"/>
          <p:cNvSpPr/>
          <p:nvPr/>
        </p:nvSpPr>
        <p:spPr>
          <a:xfrm>
            <a:off x="640080" y="5139000"/>
            <a:ext cx="1906560" cy="200520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TextBox 24"/>
          <p:cNvSpPr/>
          <p:nvPr/>
        </p:nvSpPr>
        <p:spPr>
          <a:xfrm>
            <a:off x="7452360" y="510228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10%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TextBox 25"/>
          <p:cNvSpPr/>
          <p:nvPr/>
        </p:nvSpPr>
        <p:spPr>
          <a:xfrm>
            <a:off x="640080" y="5532120"/>
            <a:ext cx="36568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f172a"/>
                </a:solidFill>
                <a:latin typeface="Calibri"/>
              </a:rPr>
              <a:t>Documentation &amp; Certification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Rounded Rectangle 26"/>
          <p:cNvSpPr/>
          <p:nvPr/>
        </p:nvSpPr>
        <p:spPr>
          <a:xfrm>
            <a:off x="640080" y="5788080"/>
            <a:ext cx="6674400" cy="20052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2" name="Rounded Rectangle 27"/>
          <p:cNvSpPr/>
          <p:nvPr/>
        </p:nvSpPr>
        <p:spPr>
          <a:xfrm>
            <a:off x="640080" y="5788080"/>
            <a:ext cx="952920" cy="20052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3" name="TextBox 28"/>
          <p:cNvSpPr/>
          <p:nvPr/>
        </p:nvSpPr>
        <p:spPr>
          <a:xfrm>
            <a:off x="7452360" y="5751720"/>
            <a:ext cx="73080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f172a"/>
                </a:solidFill>
                <a:latin typeface="Calibri"/>
              </a:rPr>
              <a:t>5%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Rounded Rectangle 29"/>
          <p:cNvSpPr/>
          <p:nvPr/>
        </p:nvSpPr>
        <p:spPr>
          <a:xfrm>
            <a:off x="8321040" y="2286000"/>
            <a:ext cx="3199680" cy="35654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5" name="TextBox 30"/>
          <p:cNvSpPr/>
          <p:nvPr/>
        </p:nvSpPr>
        <p:spPr>
          <a:xfrm>
            <a:off x="8641080" y="2560320"/>
            <a:ext cx="255960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07849e"/>
                </a:solidFill>
                <a:latin typeface="Calibri"/>
              </a:rPr>
              <a:t>TOTAL ASK</a:t>
            </a:r>
            <a:endParaRPr b="0" lang="en-IN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TextBox 31"/>
          <p:cNvSpPr/>
          <p:nvPr/>
        </p:nvSpPr>
        <p:spPr>
          <a:xfrm>
            <a:off x="8641080" y="2880360"/>
            <a:ext cx="25596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₹</a:t>
            </a:r>
            <a:r>
              <a:rPr b="1" lang="en-US" sz="3000" spc="-1" strike="noStrike">
                <a:solidFill>
                  <a:srgbClr val="0f172a"/>
                </a:solidFill>
                <a:latin typeface="Calibri"/>
              </a:rPr>
              <a:t>15,00,000</a:t>
            </a:r>
            <a:endParaRPr b="0" lang="en-IN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TextBox 32"/>
          <p:cNvSpPr/>
          <p:nvPr/>
        </p:nvSpPr>
        <p:spPr>
          <a:xfrm>
            <a:off x="8641080" y="3703320"/>
            <a:ext cx="2651040" cy="113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30000"/>
              </a:lnSpc>
            </a:pPr>
            <a:r>
              <a:rPr b="0" lang="en-US" sz="1150" spc="-1" strike="noStrike">
                <a:solidFill>
                  <a:srgbClr val="5b667a"/>
                </a:solidFill>
                <a:latin typeface="Calibri"/>
              </a:rPr>
              <a:t>Funds the drone prototype, edge AI stack, dashboard build, and field validation with partner forest departments through pilot deployment.</a:t>
            </a:r>
            <a:endParaRPr b="0" lang="en-IN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33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34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15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SUCCESS METRICS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2" name="TextBox 3"/>
          <p:cNvSpPr/>
          <p:nvPr/>
        </p:nvSpPr>
        <p:spPr>
          <a:xfrm>
            <a:off x="640080" y="822960"/>
            <a:ext cx="10880640" cy="42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Targets That Prove the Platform Works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Rounded Rectangle 4"/>
          <p:cNvSpPr/>
          <p:nvPr/>
        </p:nvSpPr>
        <p:spPr>
          <a:xfrm>
            <a:off x="640080" y="210312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4" name="TextBox 5"/>
          <p:cNvSpPr/>
          <p:nvPr/>
        </p:nvSpPr>
        <p:spPr>
          <a:xfrm>
            <a:off x="914400" y="237744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&gt;95%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TextBox 6"/>
          <p:cNvSpPr/>
          <p:nvPr/>
        </p:nvSpPr>
        <p:spPr>
          <a:xfrm>
            <a:off x="914400" y="324612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Detection Accuracy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Rounded Rectangle 7"/>
          <p:cNvSpPr/>
          <p:nvPr/>
        </p:nvSpPr>
        <p:spPr>
          <a:xfrm>
            <a:off x="4325040" y="210312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7" name="TextBox 8"/>
          <p:cNvSpPr/>
          <p:nvPr/>
        </p:nvSpPr>
        <p:spPr>
          <a:xfrm>
            <a:off x="4599360" y="237744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&lt;3 sec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Box 9"/>
          <p:cNvSpPr/>
          <p:nvPr/>
        </p:nvSpPr>
        <p:spPr>
          <a:xfrm>
            <a:off x="4599360" y="324612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Alert Latency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10"/>
          <p:cNvSpPr/>
          <p:nvPr/>
        </p:nvSpPr>
        <p:spPr>
          <a:xfrm>
            <a:off x="8010000" y="210312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0" name="TextBox 11"/>
          <p:cNvSpPr/>
          <p:nvPr/>
        </p:nvSpPr>
        <p:spPr>
          <a:xfrm>
            <a:off x="8284320" y="237744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&gt;15 km²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TextBox 12"/>
          <p:cNvSpPr/>
          <p:nvPr/>
        </p:nvSpPr>
        <p:spPr>
          <a:xfrm>
            <a:off x="8284320" y="324612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Coverage per Sortie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13"/>
          <p:cNvSpPr/>
          <p:nvPr/>
        </p:nvSpPr>
        <p:spPr>
          <a:xfrm>
            <a:off x="640080" y="406908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3" name="TextBox 14"/>
          <p:cNvSpPr/>
          <p:nvPr/>
        </p:nvSpPr>
        <p:spPr>
          <a:xfrm>
            <a:off x="914400" y="434340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&gt;45 min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Box 15"/>
          <p:cNvSpPr/>
          <p:nvPr/>
        </p:nvSpPr>
        <p:spPr>
          <a:xfrm>
            <a:off x="914400" y="521208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Flight Time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Rounded Rectangle 16"/>
          <p:cNvSpPr/>
          <p:nvPr/>
        </p:nvSpPr>
        <p:spPr>
          <a:xfrm>
            <a:off x="4325040" y="406908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6" name="TextBox 17"/>
          <p:cNvSpPr/>
          <p:nvPr/>
        </p:nvSpPr>
        <p:spPr>
          <a:xfrm>
            <a:off x="4599360" y="434340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&lt;5%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TextBox 18"/>
          <p:cNvSpPr/>
          <p:nvPr/>
        </p:nvSpPr>
        <p:spPr>
          <a:xfrm>
            <a:off x="4599360" y="521208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False Alarm Rate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Rounded Rectangle 19"/>
          <p:cNvSpPr/>
          <p:nvPr/>
        </p:nvSpPr>
        <p:spPr>
          <a:xfrm>
            <a:off x="8010000" y="4069080"/>
            <a:ext cx="3501360" cy="17366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9" name="TextBox 20"/>
          <p:cNvSpPr/>
          <p:nvPr/>
        </p:nvSpPr>
        <p:spPr>
          <a:xfrm>
            <a:off x="8284320" y="4343400"/>
            <a:ext cx="295272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0b8f64"/>
                </a:solidFill>
                <a:latin typeface="Calibri"/>
              </a:rPr>
              <a:t>&gt;60%</a:t>
            </a:r>
            <a:endParaRPr b="0" lang="en-IN" sz="3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21"/>
          <p:cNvSpPr/>
          <p:nvPr/>
        </p:nvSpPr>
        <p:spPr>
          <a:xfrm>
            <a:off x="8284320" y="5212080"/>
            <a:ext cx="2952720" cy="20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333f55"/>
                </a:solidFill>
                <a:latin typeface="Calibri"/>
              </a:rPr>
              <a:t>Patrol Cost Reduction</a:t>
            </a:r>
            <a:endParaRPr b="0" lang="en-IN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TextBox 22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TextBox 23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16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4" name="TextBox 2"/>
          <p:cNvSpPr/>
          <p:nvPr/>
        </p:nvSpPr>
        <p:spPr>
          <a:xfrm>
            <a:off x="640080" y="502920"/>
            <a:ext cx="5485680" cy="19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07849e"/>
                </a:solidFill>
                <a:latin typeface="Calibri"/>
              </a:rPr>
              <a:t>FUTURE VISION</a:t>
            </a:r>
            <a:endParaRPr b="0" lang="en-IN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TextBox 3"/>
          <p:cNvSpPr/>
          <p:nvPr/>
        </p:nvSpPr>
        <p:spPr>
          <a:xfrm>
            <a:off x="640080" y="822960"/>
            <a:ext cx="10880640" cy="85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From a Drone Solution to a National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0f172a"/>
                </a:solidFill>
                <a:latin typeface="Calibri"/>
              </a:rPr>
              <a:t>Wildlife Monitoring Network</a:t>
            </a:r>
            <a:endParaRPr b="0" lang="en-IN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Rectangle 4"/>
          <p:cNvSpPr/>
          <p:nvPr/>
        </p:nvSpPr>
        <p:spPr>
          <a:xfrm>
            <a:off x="658440" y="2331720"/>
            <a:ext cx="1279440" cy="37440"/>
          </a:xfrm>
          <a:prstGeom prst="rect">
            <a:avLst/>
          </a:prstGeom>
          <a:solidFill>
            <a:srgbClr val="06b6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7" name="Rounded Rectangle 5"/>
          <p:cNvSpPr/>
          <p:nvPr/>
        </p:nvSpPr>
        <p:spPr>
          <a:xfrm>
            <a:off x="640080" y="27432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8" name="Oval 6"/>
          <p:cNvSpPr/>
          <p:nvPr/>
        </p:nvSpPr>
        <p:spPr>
          <a:xfrm>
            <a:off x="841320" y="29260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Box 7"/>
          <p:cNvSpPr/>
          <p:nvPr/>
        </p:nvSpPr>
        <p:spPr>
          <a:xfrm>
            <a:off x="841320" y="34563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Drone Fleet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Rounded Rectangle 8"/>
          <p:cNvSpPr/>
          <p:nvPr/>
        </p:nvSpPr>
        <p:spPr>
          <a:xfrm>
            <a:off x="3374280" y="27432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Oval 9"/>
          <p:cNvSpPr/>
          <p:nvPr/>
        </p:nvSpPr>
        <p:spPr>
          <a:xfrm>
            <a:off x="3575160" y="29260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Box 10"/>
          <p:cNvSpPr/>
          <p:nvPr/>
        </p:nvSpPr>
        <p:spPr>
          <a:xfrm>
            <a:off x="3575160" y="34563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Ground Sensors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Rounded Rectangle 11"/>
          <p:cNvSpPr/>
          <p:nvPr/>
        </p:nvSpPr>
        <p:spPr>
          <a:xfrm>
            <a:off x="6108120" y="27432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4" name="Oval 12"/>
          <p:cNvSpPr/>
          <p:nvPr/>
        </p:nvSpPr>
        <p:spPr>
          <a:xfrm>
            <a:off x="6309360" y="29260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Box 13"/>
          <p:cNvSpPr/>
          <p:nvPr/>
        </p:nvSpPr>
        <p:spPr>
          <a:xfrm>
            <a:off x="6309360" y="34563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Acoustic Sensors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6" name="Rounded Rectangle 14"/>
          <p:cNvSpPr/>
          <p:nvPr/>
        </p:nvSpPr>
        <p:spPr>
          <a:xfrm>
            <a:off x="8842320" y="27432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7" name="Oval 15"/>
          <p:cNvSpPr/>
          <p:nvPr/>
        </p:nvSpPr>
        <p:spPr>
          <a:xfrm>
            <a:off x="9043560" y="29260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8" name="TextBox 16"/>
          <p:cNvSpPr/>
          <p:nvPr/>
        </p:nvSpPr>
        <p:spPr>
          <a:xfrm>
            <a:off x="9043560" y="34563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Satellite Data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Rounded Rectangle 17"/>
          <p:cNvSpPr/>
          <p:nvPr/>
        </p:nvSpPr>
        <p:spPr>
          <a:xfrm>
            <a:off x="640080" y="43434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0" name="Oval 18"/>
          <p:cNvSpPr/>
          <p:nvPr/>
        </p:nvSpPr>
        <p:spPr>
          <a:xfrm>
            <a:off x="841320" y="45262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Box 19"/>
          <p:cNvSpPr/>
          <p:nvPr/>
        </p:nvSpPr>
        <p:spPr>
          <a:xfrm>
            <a:off x="841320" y="50565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Weather Intelligence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Rounded Rectangle 20"/>
          <p:cNvSpPr/>
          <p:nvPr/>
        </p:nvSpPr>
        <p:spPr>
          <a:xfrm>
            <a:off x="3374280" y="43434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3" name="Oval 21"/>
          <p:cNvSpPr/>
          <p:nvPr/>
        </p:nvSpPr>
        <p:spPr>
          <a:xfrm>
            <a:off x="3575160" y="45262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Box 22"/>
          <p:cNvSpPr/>
          <p:nvPr/>
        </p:nvSpPr>
        <p:spPr>
          <a:xfrm>
            <a:off x="3575160" y="5056560"/>
            <a:ext cx="2221200" cy="20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Predictive Analytics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Rounded Rectangle 23"/>
          <p:cNvSpPr/>
          <p:nvPr/>
        </p:nvSpPr>
        <p:spPr>
          <a:xfrm>
            <a:off x="6108120" y="4343400"/>
            <a:ext cx="2586960" cy="1416600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6" name="Oval 24"/>
          <p:cNvSpPr/>
          <p:nvPr/>
        </p:nvSpPr>
        <p:spPr>
          <a:xfrm>
            <a:off x="6309360" y="4526280"/>
            <a:ext cx="365040" cy="365040"/>
          </a:xfrm>
          <a:prstGeom prst="ellipse">
            <a:avLst/>
          </a:prstGeom>
          <a:solidFill>
            <a:srgbClr val="10b98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+</a:t>
            </a:r>
            <a:endParaRPr b="0" lang="en-IN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Box 25"/>
          <p:cNvSpPr/>
          <p:nvPr/>
        </p:nvSpPr>
        <p:spPr>
          <a:xfrm>
            <a:off x="6309360" y="5056560"/>
            <a:ext cx="2221200" cy="41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National Wildlife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0000"/>
              </a:lnSpc>
            </a:pPr>
            <a:r>
              <a:rPr b="1" lang="en-US" sz="1250" spc="-1" strike="noStrike">
                <a:solidFill>
                  <a:srgbClr val="0f172a"/>
                </a:solidFill>
                <a:latin typeface="Calibri"/>
              </a:rPr>
              <a:t>Monitoring Network</a:t>
            </a:r>
            <a:endParaRPr b="0" lang="en-IN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TextBox 26"/>
          <p:cNvSpPr/>
          <p:nvPr/>
        </p:nvSpPr>
        <p:spPr>
          <a:xfrm>
            <a:off x="640080" y="6528960"/>
            <a:ext cx="548568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VanRakshak  |  MSME Idea Hackathon 6.0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9" name="TextBox 27"/>
          <p:cNvSpPr/>
          <p:nvPr/>
        </p:nvSpPr>
        <p:spPr>
          <a:xfrm>
            <a:off x="10972800" y="6528960"/>
            <a:ext cx="547920" cy="13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5b667a"/>
                </a:solidFill>
                <a:latin typeface="Calibri"/>
              </a:rPr>
              <a:t>17</a:t>
            </a:r>
            <a:endParaRPr b="0" lang="en-IN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21" name="TextBox 3"/>
          <p:cNvSpPr/>
          <p:nvPr/>
        </p:nvSpPr>
        <p:spPr>
          <a:xfrm>
            <a:off x="1828800" y="2926080"/>
            <a:ext cx="853344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0f172a"/>
                </a:solidFill>
                <a:latin typeface="Calibri"/>
              </a:rPr>
              <a:t>VanRakshak</a:t>
            </a:r>
            <a:endParaRPr b="0" lang="en-IN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2" name="TextBox 4"/>
          <p:cNvSpPr/>
          <p:nvPr/>
        </p:nvSpPr>
        <p:spPr>
          <a:xfrm>
            <a:off x="1828800" y="3703320"/>
            <a:ext cx="8533440" cy="27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i="1" lang="en-US" sz="1800" spc="-1" strike="noStrike">
                <a:solidFill>
                  <a:srgbClr val="07849e"/>
                </a:solidFill>
                <a:latin typeface="Calibri"/>
              </a:rPr>
              <a:t>“</a:t>
            </a:r>
            <a:r>
              <a:rPr b="1" i="1" lang="en-US" sz="1800" spc="-1" strike="noStrike">
                <a:solidFill>
                  <a:srgbClr val="07849e"/>
                </a:solidFill>
                <a:latin typeface="Calibri"/>
              </a:rPr>
              <a:t>From Surveillance to Intelligence.”</a:t>
            </a:r>
            <a:endParaRPr b="0" lang="en-IN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TextBox 5"/>
          <p:cNvSpPr/>
          <p:nvPr/>
        </p:nvSpPr>
        <p:spPr>
          <a:xfrm>
            <a:off x="1828800" y="4297680"/>
            <a:ext cx="85334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5b667a"/>
                </a:solidFill>
                <a:latin typeface="Calibri"/>
              </a:rPr>
              <a:t>Protecting India's forests through autonomous AI.</a:t>
            </a:r>
            <a:endParaRPr b="0" lang="en-IN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2026-07-04T15:56:58Z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