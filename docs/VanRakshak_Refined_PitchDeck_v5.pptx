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41F11F-2882-429C-96D8-822B856CF4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753F83-98B0-4D02-BBD5-9BE651249B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195899C-C911-45FF-89C3-8ACE107987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68FA375-1A18-4C80-9478-32E942C435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521AA2F-19A2-44A3-8290-7E4DDC67C7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00E2105-3666-43F8-B87A-30406B2F3F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663B9E9-3422-4A25-9B00-A66EBA7A34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D8370E8-409C-49FA-BB83-B651F7807D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1AC3389-C8F1-4986-AA6A-4B53575812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870022E-3A61-466F-ACAB-501F820132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5698DF3-EA4A-44EC-AA9E-D62CD9489A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791367-6CE9-4747-A2E4-F6BF67D771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B3D9FA-4F36-467C-B607-7F58BBA29C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64F13A-A8BF-4CBC-8B3E-03EE7F641D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1CA6AD-0131-4BE3-A767-3C2CCCBC5FC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9E9D39-AF98-4A08-960D-FB816F3C9B7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08DB6D-97B7-4976-A426-7A15E92385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2F78E58-7594-43C0-B27B-71121B8E41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650830-4F10-4F0D-9AD0-510E2A26E8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6C07C2-1F55-45F1-8A5A-26BA5A902E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3E1DDD-0207-40CC-8D5B-97D970AD08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88BBF9-5ECE-4701-97F9-DFE5721B1D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7884000" y="0"/>
            <a:ext cx="4368600" cy="6857640"/>
          </a:xfrm>
          <a:prstGeom prst="rect">
            <a:avLst/>
          </a:prstGeom>
          <a:solidFill>
            <a:srgbClr val="18382c"/>
          </a:solidFill>
          <a:ln>
            <a:solidFill>
              <a:srgbClr val="18382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ounded Rectangle 2"/>
          <p:cNvSpPr/>
          <p:nvPr/>
        </p:nvSpPr>
        <p:spPr>
          <a:xfrm>
            <a:off x="457200" y="822960"/>
            <a:ext cx="7314840" cy="5211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ce1d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929720" y="524160"/>
            <a:ext cx="4136400" cy="47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4800" spc="-1" strike="noStrike">
                <a:solidFill>
                  <a:schemeClr val="dk2">
                    <a:lumMod val="20000"/>
                    <a:lumOff val="80000"/>
                  </a:schemeClr>
                </a:solidFill>
                <a:latin typeface="Calibri"/>
                <a:ea typeface="Noto Sans CJK SC"/>
              </a:rPr>
              <a:t>VanRakshak</a:t>
            </a:r>
            <a:r>
              <a:rPr b="0" lang="en-US" sz="3600" spc="-1" strike="noStrike">
                <a:solidFill>
                  <a:schemeClr val="dk2">
                    <a:lumMod val="20000"/>
                    <a:lumOff val="80000"/>
                  </a:schemeClr>
                </a:solidFill>
                <a:latin typeface="Calibri"/>
                <a:ea typeface="Noto Sans CJK SC"/>
              </a:rPr>
              <a:t>: </a:t>
            </a:r>
            <a:br>
              <a:rPr sz="3600"/>
            </a:br>
            <a:r>
              <a:rPr b="0" lang="en-US" sz="3200" spc="-1" strike="noStrike">
                <a:solidFill>
                  <a:schemeClr val="dk2">
                    <a:lumMod val="20000"/>
                    <a:lumOff val="80000"/>
                  </a:schemeClr>
                </a:solidFill>
                <a:latin typeface="Calibri"/>
              </a:rPr>
              <a:t>AI-Enabled Drone Patrolling System for Forest  Authorities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200" spc="-1" strike="noStrike">
                <a:solidFill>
                  <a:schemeClr val="dk2">
                    <a:lumMod val="20000"/>
                    <a:lumOff val="80000"/>
                  </a:schemeClr>
                </a:solidFill>
                <a:latin typeface="Calibri"/>
              </a:rPr>
              <a:t>to Detect Poaching, Illegal Logging, and Encroachment in Real Time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900000" y="1260000"/>
            <a:ext cx="6572160" cy="455616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>
            <a:solidFill>
              <a:srgbClr val="d2d8d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8382c"/>
                </a:solidFill>
                <a:latin typeface="Calibri"/>
              </a:rPr>
              <a:t>Team Members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f2523"/>
                </a:solidFill>
                <a:latin typeface="Calibri"/>
              </a:rPr>
              <a:t>Sanjeev Kumar S   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f2523"/>
                </a:solidFill>
                <a:latin typeface="Calibri"/>
              </a:rPr>
              <a:t>Prajan SS  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f2523"/>
                </a:solidFill>
                <a:latin typeface="Calibri"/>
              </a:rPr>
              <a:t>Kamlesh 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646e6c"/>
                </a:solidFill>
                <a:latin typeface="Calibri"/>
              </a:rPr>
              <a:t>3rd Year CSE | Robotics &amp; Automation  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accent2">
                    <a:lumMod val="75000"/>
                  </a:schemeClr>
                </a:solidFill>
                <a:latin typeface="Calibri"/>
              </a:rPr>
              <a:t>Department of CSE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accent2">
                    <a:lumMod val="75000"/>
                  </a:schemeClr>
                </a:solidFill>
                <a:latin typeface="Calibri"/>
              </a:rPr>
              <a:t>Saveetha Engineering College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2788920" y="6400800"/>
            <a:ext cx="2468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646e6c"/>
                </a:solidFill>
                <a:latin typeface="Calibri"/>
              </a:rPr>
              <a:t>VanRakshak | AI wildlife protection system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7975440" y="5429160"/>
            <a:ext cx="4090680" cy="6994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</a:rPr>
              <a:t>Mentor – Dr. Rajendra Thilahar C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</a:rPr>
              <a:t>Department of AI &amp; DS</a:t>
            </a:r>
            <a:endParaRPr b="0" lang="en-IN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HeaderBar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411480" y="90000"/>
            <a:ext cx="8999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Vision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429840" y="699840"/>
            <a:ext cx="99997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646e6c"/>
                </a:solidFill>
                <a:latin typeface="Calibri"/>
              </a:rPr>
              <a:t>Autonomous Forest Response Agent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ardLeft 5"/>
          <p:cNvSpPr/>
          <p:nvPr/>
        </p:nvSpPr>
        <p:spPr>
          <a:xfrm>
            <a:off x="171360" y="1143000"/>
            <a:ext cx="5909040" cy="50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450000" y="1329840"/>
            <a:ext cx="5449680" cy="45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1" lang="en-US" sz="1600" spc="-1" strike="noStrike">
                <a:solidFill>
                  <a:srgbClr val="4b7b5e"/>
                </a:solidFill>
                <a:latin typeface="Calibri"/>
              </a:rPr>
              <a:t>The Problem Today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b="0" lang="en-US" sz="1400" spc="-1" strike="noStrike">
                <a:solidFill>
                  <a:srgbClr val="1f2523"/>
                </a:solidFill>
                <a:latin typeface="Calibri"/>
              </a:rPr>
              <a:t>Current forest monitoring systems mostly record footage and depend on human operators to detect threats.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b="1" lang="en-US" sz="1600" spc="-1" strike="noStrike">
                <a:solidFill>
                  <a:srgbClr val="4b7b5e"/>
                </a:solidFill>
                <a:latin typeface="Calibri"/>
              </a:rPr>
              <a:t>VanRakshak, Autonomous Aerial Agent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00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Continuously patrols predefined forest routes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00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Understands the environment using onboard AI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00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Assesses threats in real time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00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Takes safe autonomous actions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00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Coordinates with forest rangers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CardRight 7"/>
          <p:cNvSpPr/>
          <p:nvPr/>
        </p:nvSpPr>
        <p:spPr>
          <a:xfrm>
            <a:off x="6309360" y="1143000"/>
            <a:ext cx="5348880" cy="50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6580080" y="1329840"/>
            <a:ext cx="4799520" cy="4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b="1" lang="en-US" sz="1600" spc="-1" strike="noStrike">
                <a:solidFill>
                  <a:srgbClr val="4b7b5e"/>
                </a:solidFill>
                <a:latin typeface="Calibri"/>
              </a:rPr>
              <a:t>Key Capabilities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Chip 9"/>
          <p:cNvSpPr/>
          <p:nvPr/>
        </p:nvSpPr>
        <p:spPr>
          <a:xfrm>
            <a:off x="6580080" y="1950120"/>
            <a:ext cx="4799520" cy="61956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 w="12700">
            <a:solidFill>
              <a:srgbClr val="cdd4d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6779880" y="2080080"/>
            <a:ext cx="43995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8382c"/>
                </a:solidFill>
                <a:latin typeface="Calibri"/>
              </a:rPr>
              <a:t>Anti-poaching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Chip 11"/>
          <p:cNvSpPr/>
          <p:nvPr/>
        </p:nvSpPr>
        <p:spPr>
          <a:xfrm>
            <a:off x="6580080" y="2700000"/>
            <a:ext cx="4799520" cy="61956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 w="12700">
            <a:solidFill>
              <a:srgbClr val="cdd4d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6779880" y="2829960"/>
            <a:ext cx="43995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8382c"/>
                </a:solidFill>
                <a:latin typeface="Calibri"/>
              </a:rPr>
              <a:t>Illegal logging detection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hip 13"/>
          <p:cNvSpPr/>
          <p:nvPr/>
        </p:nvSpPr>
        <p:spPr>
          <a:xfrm>
            <a:off x="6580080" y="3449880"/>
            <a:ext cx="4799520" cy="61956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 w="12700">
            <a:solidFill>
              <a:srgbClr val="cdd4d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4"/>
          <p:cNvSpPr/>
          <p:nvPr/>
        </p:nvSpPr>
        <p:spPr>
          <a:xfrm>
            <a:off x="6779880" y="3579840"/>
            <a:ext cx="43995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8382c"/>
                </a:solidFill>
                <a:latin typeface="Calibri"/>
              </a:rPr>
              <a:t>Wildlife monitoring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hip 15"/>
          <p:cNvSpPr/>
          <p:nvPr/>
        </p:nvSpPr>
        <p:spPr>
          <a:xfrm>
            <a:off x="6580080" y="4200120"/>
            <a:ext cx="4799520" cy="61956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 w="12700">
            <a:solidFill>
              <a:srgbClr val="cdd4d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6779880" y="4330080"/>
            <a:ext cx="43995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8382c"/>
                </a:solidFill>
                <a:latin typeface="Calibri"/>
              </a:rPr>
              <a:t>Early fire response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Chip 17"/>
          <p:cNvSpPr/>
          <p:nvPr/>
        </p:nvSpPr>
        <p:spPr>
          <a:xfrm>
            <a:off x="6580080" y="4950000"/>
            <a:ext cx="4799520" cy="61956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 w="12700">
            <a:solidFill>
              <a:srgbClr val="cdd4d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18"/>
          <p:cNvSpPr/>
          <p:nvPr/>
        </p:nvSpPr>
        <p:spPr>
          <a:xfrm>
            <a:off x="6779880" y="5079960"/>
            <a:ext cx="439956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8382c"/>
                </a:solidFill>
                <a:latin typeface="Calibri"/>
              </a:rPr>
              <a:t>Human-wildlife conflict prevention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HeaderBar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411480" y="90000"/>
            <a:ext cx="8999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Hardware Architecture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ImgCard 5"/>
          <p:cNvSpPr/>
          <p:nvPr/>
        </p:nvSpPr>
        <p:spPr>
          <a:xfrm>
            <a:off x="901080" y="1080000"/>
            <a:ext cx="9720000" cy="5619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429840" y="740520"/>
            <a:ext cx="99997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600" spc="-1" strike="noStrike">
                <a:solidFill>
                  <a:srgbClr val="5a5a5a"/>
                </a:solidFill>
                <a:latin typeface="Aptos"/>
              </a:rPr>
              <a:t>Airframe, edge compute, sensor suite, and modular mission payloads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1260000" y="1620000"/>
            <a:ext cx="4317480" cy="30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14d37"/>
                </a:solidFill>
                <a:latin typeface="Aptos"/>
              </a:rPr>
              <a:t>Core hardware stack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Airframe and propulsion tuned for long patrol endurance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Edge compute and flight controller for onboard decision-making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Modular mission payloads for alerting and fire response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5760000" y="1620000"/>
            <a:ext cx="4680000" cy="34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214d37"/>
                </a:solidFill>
                <a:latin typeface="Aptos"/>
              </a:rPr>
              <a:t>Sensor suite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RGB camera for daytime visual detection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Thermal camera for low-light and heat signatures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LiDAR for terrain and obstacle awareness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300"/>
              </a:spcAft>
            </a:pP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• </a:t>
            </a:r>
            <a:r>
              <a:rPr b="0" lang="en-US" sz="2200" spc="-1" strike="noStrike">
                <a:solidFill>
                  <a:srgbClr val="282828"/>
                </a:solidFill>
                <a:latin typeface="Aptos"/>
              </a:rPr>
              <a:t>Audio sensors for acoustic cues and alerts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7"/>
          <p:cNvSpPr/>
          <p:nvPr/>
        </p:nvSpPr>
        <p:spPr>
          <a:xfrm>
            <a:off x="3794760" y="5257800"/>
            <a:ext cx="4114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e6e6e"/>
                </a:solidFill>
                <a:latin typeface="Aptos"/>
              </a:rPr>
              <a:t>Detailed hardware diagram appears on the next slide.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76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1742040" y="73080"/>
            <a:ext cx="5056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Hardware Architecture Diagram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3055680" y="749880"/>
            <a:ext cx="3471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</a:rPr>
              <a:t>Expanded standalone view of the drone hardware stack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ounded Rectangle 5"/>
          <p:cNvSpPr/>
          <p:nvPr/>
        </p:nvSpPr>
        <p:spPr>
          <a:xfrm>
            <a:off x="411480" y="1234440"/>
            <a:ext cx="11383920" cy="544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d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1" name="Picture 6" descr="image.png"/>
          <p:cNvPicPr/>
          <p:nvPr/>
        </p:nvPicPr>
        <p:blipFill>
          <a:blip r:embed="rId1"/>
          <a:stretch/>
        </p:blipFill>
        <p:spPr>
          <a:xfrm>
            <a:off x="2270160" y="1398960"/>
            <a:ext cx="7666920" cy="511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HeaderBar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411480" y="90000"/>
            <a:ext cx="8999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AI Perception Pipeline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429840" y="699840"/>
            <a:ext cx="99997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646e6c"/>
                </a:solidFill>
                <a:latin typeface="Calibri"/>
              </a:rPr>
              <a:t>How the drone senses, understands, and tracks its environment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Card 5"/>
          <p:cNvSpPr/>
          <p:nvPr/>
        </p:nvSpPr>
        <p:spPr>
          <a:xfrm>
            <a:off x="171360" y="1149840"/>
            <a:ext cx="3849480" cy="154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351360" y="1280160"/>
            <a:ext cx="3489480" cy="12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b="1" lang="en-US" sz="1500" spc="-1" strike="noStrike">
                <a:solidFill>
                  <a:srgbClr val="4b7b5e"/>
                </a:solidFill>
                <a:latin typeface="Calibri"/>
              </a:rPr>
              <a:t>Sensor Fusion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523"/>
                </a:solidFill>
                <a:latin typeface="Calibri"/>
              </a:rPr>
              <a:t>Combines RGB, thermal, LiDAR, and audio streams into one picture.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Card 7"/>
          <p:cNvSpPr/>
          <p:nvPr/>
        </p:nvSpPr>
        <p:spPr>
          <a:xfrm>
            <a:off x="4121280" y="1149840"/>
            <a:ext cx="3849480" cy="154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4301280" y="1280160"/>
            <a:ext cx="3489480" cy="12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b="1" lang="en-US" sz="1500" spc="-1" strike="noStrike">
                <a:solidFill>
                  <a:srgbClr val="4b7b5e"/>
                </a:solidFill>
                <a:latin typeface="Calibri"/>
              </a:rPr>
              <a:t>YOLO Detection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523"/>
                </a:solidFill>
                <a:latin typeface="Calibri"/>
              </a:rPr>
              <a:t>Detects humans, animals, vehicles, smoke, and fire.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Card 9"/>
          <p:cNvSpPr/>
          <p:nvPr/>
        </p:nvSpPr>
        <p:spPr>
          <a:xfrm>
            <a:off x="8071560" y="1149840"/>
            <a:ext cx="3849480" cy="154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8251560" y="1280160"/>
            <a:ext cx="3489480" cy="12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b="1" lang="en-US" sz="1500" spc="-1" strike="noStrike">
                <a:solidFill>
                  <a:srgbClr val="4b7b5e"/>
                </a:solidFill>
                <a:latin typeface="Calibri"/>
              </a:rPr>
              <a:t>ByteTrack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523"/>
                </a:solidFill>
                <a:latin typeface="Calibri"/>
              </a:rPr>
              <a:t>Tracks movement and identity over time.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Card 11"/>
          <p:cNvSpPr/>
          <p:nvPr/>
        </p:nvSpPr>
        <p:spPr>
          <a:xfrm>
            <a:off x="171360" y="2800080"/>
            <a:ext cx="3849480" cy="154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351360" y="2930040"/>
            <a:ext cx="3489480" cy="12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b="1" lang="en-US" sz="1500" spc="-1" strike="noStrike">
                <a:solidFill>
                  <a:srgbClr val="4b7b5e"/>
                </a:solidFill>
                <a:latin typeface="Calibri"/>
              </a:rPr>
              <a:t>Classification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523"/>
                </a:solidFill>
                <a:latin typeface="Calibri"/>
              </a:rPr>
              <a:t>Identifies animal species, vehicles, weapons, and equipment.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Card 13"/>
          <p:cNvSpPr/>
          <p:nvPr/>
        </p:nvSpPr>
        <p:spPr>
          <a:xfrm>
            <a:off x="4121280" y="2800080"/>
            <a:ext cx="3849480" cy="154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4"/>
          <p:cNvSpPr/>
          <p:nvPr/>
        </p:nvSpPr>
        <p:spPr>
          <a:xfrm>
            <a:off x="4301280" y="2930040"/>
            <a:ext cx="3489480" cy="12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b="1" lang="en-US" sz="1500" spc="-1" strike="noStrike">
                <a:solidFill>
                  <a:srgbClr val="4b7b5e"/>
                </a:solidFill>
                <a:latin typeface="Calibri"/>
              </a:rPr>
              <a:t>World Model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523"/>
                </a:solidFill>
                <a:latin typeface="Calibri"/>
              </a:rPr>
              <a:t>Maintains GPS history, object identities, past observations, and protected zones.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Card 15"/>
          <p:cNvSpPr/>
          <p:nvPr/>
        </p:nvSpPr>
        <p:spPr>
          <a:xfrm>
            <a:off x="8071560" y="2800080"/>
            <a:ext cx="3849480" cy="154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16"/>
          <p:cNvSpPr/>
          <p:nvPr/>
        </p:nvSpPr>
        <p:spPr>
          <a:xfrm>
            <a:off x="8251560" y="2930040"/>
            <a:ext cx="3489480" cy="12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b="1" lang="en-US" sz="1500" spc="-1" strike="noStrike">
                <a:solidFill>
                  <a:srgbClr val="4b7b5e"/>
                </a:solidFill>
                <a:latin typeface="Calibri"/>
              </a:rPr>
              <a:t>Mission Agent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523"/>
                </a:solidFill>
                <a:latin typeface="Calibri"/>
              </a:rPr>
              <a:t>Vision-language model + LLM planner + risk engine decide: alert, siren, fire suppression, or continue patrol.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8"/>
          <p:cNvSpPr/>
          <p:nvPr/>
        </p:nvSpPr>
        <p:spPr>
          <a:xfrm>
            <a:off x="4449240" y="4709160"/>
            <a:ext cx="3171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</a:rPr>
              <a:t>Detailed pipeline diagram follows in the next slide.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9176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1805040" y="73080"/>
            <a:ext cx="4929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AI Perception Pipeline Diagram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2550600" y="749880"/>
            <a:ext cx="4481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</a:rPr>
              <a:t>Expanded standalone view of the sensing, tracking, and mission pipeline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5"/>
          <p:cNvSpPr/>
          <p:nvPr/>
        </p:nvSpPr>
        <p:spPr>
          <a:xfrm>
            <a:off x="411480" y="1234440"/>
            <a:ext cx="11383920" cy="544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d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2" name="Picture 6" descr="image.png"/>
          <p:cNvPicPr/>
          <p:nvPr/>
        </p:nvPicPr>
        <p:blipFill>
          <a:blip r:embed="rId1"/>
          <a:stretch/>
        </p:blipFill>
        <p:spPr>
          <a:xfrm>
            <a:off x="576000" y="2443320"/>
            <a:ext cx="11054880" cy="302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HeaderBar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411480" y="90000"/>
            <a:ext cx="8999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600" spc="-1" strike="noStrike">
                <a:solidFill>
                  <a:srgbClr val="ffffff"/>
                </a:solidFill>
                <a:latin typeface="Aptos"/>
              </a:rPr>
              <a:t>Autonomous Decision Loop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429840" y="699840"/>
            <a:ext cx="99997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700" spc="-1" strike="noStrike">
                <a:solidFill>
                  <a:srgbClr val="666666"/>
                </a:solidFill>
                <a:latin typeface="Aptos"/>
              </a:rPr>
              <a:t>The continuous mission cycle that runs onboard every drone</a:t>
            </a:r>
            <a:endParaRPr b="0" lang="en-IN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685800" y="1601640"/>
            <a:ext cx="4891680" cy="30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600" spc="-1" strike="noStrike">
                <a:solidFill>
                  <a:srgbClr val="1f4e3c"/>
                </a:solidFill>
                <a:latin typeface="Aptos"/>
              </a:rPr>
              <a:t>Mission cycle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Patrol route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Scan environment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Detect objects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Analyze situation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Compute risk score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Select best response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6120000" y="1720440"/>
            <a:ext cx="4891680" cy="22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2600" spc="-1" strike="noStrike">
                <a:solidFill>
                  <a:srgbClr val="1f4e3c"/>
                </a:solidFill>
                <a:latin typeface="Aptos"/>
              </a:rPr>
              <a:t>Response options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Notify rangers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Activate warning siren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Deploy fire suppressant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  <a:spcAft>
                <a:spcPts val="400"/>
              </a:spcAft>
            </a:pPr>
            <a:r>
              <a:rPr b="0" lang="en-US" sz="2200" spc="-1" strike="noStrike">
                <a:solidFill>
                  <a:srgbClr val="212529"/>
                </a:solidFill>
                <a:latin typeface="Aptos"/>
              </a:rPr>
              <a:t>Continue tracking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6"/>
          <p:cNvSpPr/>
          <p:nvPr/>
        </p:nvSpPr>
        <p:spPr>
          <a:xfrm>
            <a:off x="5715000" y="1234440"/>
            <a:ext cx="27000" cy="3382920"/>
          </a:xfrm>
          <a:prstGeom prst="rect">
            <a:avLst/>
          </a:prstGeom>
          <a:solidFill>
            <a:srgbClr val="e1e1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7"/>
          <p:cNvSpPr/>
          <p:nvPr/>
        </p:nvSpPr>
        <p:spPr>
          <a:xfrm>
            <a:off x="4243320" y="5504760"/>
            <a:ext cx="30340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300" spc="-1" strike="noStrike">
                <a:solidFill>
                  <a:srgbClr val="666666"/>
                </a:solidFill>
                <a:latin typeface="Aptos"/>
              </a:rPr>
              <a:t>Detailed flow diagram on the next slide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76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1409760" y="73080"/>
            <a:ext cx="572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Autonomous Decision Loop Diagram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3040560" y="749880"/>
            <a:ext cx="3501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606060"/>
                </a:solidFill>
                <a:latin typeface="Calibri"/>
              </a:rPr>
              <a:t>Expanded standalone view of the onboard mission cycle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5"/>
          <p:cNvSpPr/>
          <p:nvPr/>
        </p:nvSpPr>
        <p:spPr>
          <a:xfrm>
            <a:off x="2788920" y="1188720"/>
            <a:ext cx="6583320" cy="5303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5ddd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4" name="Picture 6" descr="image.png"/>
          <p:cNvPicPr/>
          <p:nvPr/>
        </p:nvPicPr>
        <p:blipFill>
          <a:blip r:embed="rId1"/>
          <a:stretch/>
        </p:blipFill>
        <p:spPr>
          <a:xfrm>
            <a:off x="3777840" y="1334880"/>
            <a:ext cx="4605120" cy="501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HeaderBar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411480" y="90000"/>
            <a:ext cx="8999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Multi-Drone Collaboration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429840" y="699840"/>
            <a:ext cx="99997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646e6c"/>
                </a:solidFill>
                <a:latin typeface="Calibri"/>
              </a:rPr>
              <a:t>Cooperative drone fleet for larger, more reliable coverage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ImgCard 5"/>
          <p:cNvSpPr/>
          <p:nvPr/>
        </p:nvSpPr>
        <p:spPr>
          <a:xfrm>
            <a:off x="655920" y="1109880"/>
            <a:ext cx="10879560" cy="229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9" name="Picture 6" descr=""/>
          <p:cNvPicPr/>
          <p:nvPr/>
        </p:nvPicPr>
        <p:blipFill>
          <a:blip r:embed="rId1"/>
          <a:stretch/>
        </p:blipFill>
        <p:spPr>
          <a:xfrm>
            <a:off x="695880" y="1149840"/>
            <a:ext cx="10799640" cy="2219760"/>
          </a:xfrm>
          <a:prstGeom prst="rect">
            <a:avLst/>
          </a:prstGeom>
          <a:ln w="0">
            <a:noFill/>
          </a:ln>
        </p:spPr>
      </p:pic>
      <p:sp>
        <p:nvSpPr>
          <p:cNvPr id="140" name="ExplainCard 7"/>
          <p:cNvSpPr/>
          <p:nvPr/>
        </p:nvSpPr>
        <p:spPr>
          <a:xfrm>
            <a:off x="171360" y="3620160"/>
            <a:ext cx="5909040" cy="252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399960" y="3800160"/>
            <a:ext cx="54489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451"/>
              </a:spcAft>
            </a:pPr>
            <a:r>
              <a:rPr b="1" lang="en-US" sz="1800" spc="-1" strike="noStrike">
                <a:solidFill>
                  <a:srgbClr val="4b7b5e"/>
                </a:solidFill>
                <a:latin typeface="Calibri"/>
              </a:rPr>
              <a:t>How It Works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f2523"/>
                </a:solidFill>
                <a:latin typeface="Calibri"/>
              </a:rPr>
              <a:t>One drone detects an incident, another verifies it visually, and a third maintains a communication relay in areas with poor network coverage before alerting Forest Command and the nearest ranger team.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AdvCard 9"/>
          <p:cNvSpPr/>
          <p:nvPr/>
        </p:nvSpPr>
        <p:spPr>
          <a:xfrm>
            <a:off x="6309360" y="3620160"/>
            <a:ext cx="5348880" cy="2529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6540120" y="3800160"/>
            <a:ext cx="48996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451"/>
              </a:spcAft>
            </a:pPr>
            <a:r>
              <a:rPr b="1" lang="en-US" sz="1800" spc="-1" strike="noStrike">
                <a:solidFill>
                  <a:srgbClr val="4b7b5e"/>
                </a:solidFill>
                <a:latin typeface="Calibri"/>
              </a:rPr>
              <a:t>Advantages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81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50" spc="-1" strike="noStrike">
                <a:solidFill>
                  <a:srgbClr val="1f2523"/>
                </a:solidFill>
                <a:latin typeface="Calibri"/>
              </a:rPr>
              <a:t>Larger forest coverage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81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50" spc="-1" strike="noStrike">
                <a:solidFill>
                  <a:srgbClr val="1f2523"/>
                </a:solidFill>
                <a:latin typeface="Calibri"/>
              </a:rPr>
              <a:t>Redundant sensing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81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50" spc="-1" strike="noStrike">
                <a:solidFill>
                  <a:srgbClr val="1f2523"/>
                </a:solidFill>
                <a:latin typeface="Calibri"/>
              </a:rPr>
              <a:t>Reliable communication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81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50" spc="-1" strike="noStrike">
                <a:solidFill>
                  <a:srgbClr val="1f2523"/>
                </a:solidFill>
                <a:latin typeface="Calibri"/>
              </a:rPr>
              <a:t>Faster response time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81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50" spc="-1" strike="noStrike">
                <a:solidFill>
                  <a:srgbClr val="1f2523"/>
                </a:solidFill>
                <a:latin typeface="Calibri"/>
              </a:rPr>
              <a:t>Higher detection confidence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eaderBar 2"/>
          <p:cNvSpPr/>
          <p:nvPr/>
        </p:nvSpPr>
        <p:spPr>
          <a:xfrm>
            <a:off x="0" y="0"/>
            <a:ext cx="12191400" cy="658080"/>
          </a:xfrm>
          <a:prstGeom prst="rect">
            <a:avLst/>
          </a:prstGeom>
          <a:solidFill>
            <a:srgbClr val="1838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411480" y="90000"/>
            <a:ext cx="8999640" cy="47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Innovation &amp; Future Scope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429840" y="699840"/>
            <a:ext cx="999972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100" spc="-1" strike="noStrike">
                <a:solidFill>
                  <a:srgbClr val="646e6c"/>
                </a:solidFill>
                <a:latin typeface="Calibri"/>
              </a:rPr>
              <a:t>Why VanRakshak is different, and where it goes next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urCard 5"/>
          <p:cNvSpPr/>
          <p:nvPr/>
        </p:nvSpPr>
        <p:spPr>
          <a:xfrm>
            <a:off x="171360" y="1143000"/>
            <a:ext cx="5909040" cy="264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399960" y="1329840"/>
            <a:ext cx="544968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451"/>
              </a:spcAft>
            </a:pPr>
            <a:r>
              <a:rPr b="1" lang="en-US" sz="1800" spc="-1" strike="noStrike">
                <a:solidFill>
                  <a:srgbClr val="646e6c"/>
                </a:solidFill>
                <a:latin typeface="Calibri"/>
              </a:rPr>
              <a:t>Current Drones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34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Record footage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34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Require manual review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34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Limited autonomous capability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VRCard 7"/>
          <p:cNvSpPr/>
          <p:nvPr/>
        </p:nvSpPr>
        <p:spPr>
          <a:xfrm>
            <a:off x="171360" y="3949920"/>
            <a:ext cx="5909040" cy="2849760"/>
          </a:xfrm>
          <a:prstGeom prst="roundRect">
            <a:avLst>
              <a:gd name="adj" fmla="val 16667"/>
            </a:avLst>
          </a:prstGeom>
          <a:solidFill>
            <a:srgbClr val="e9f1ec"/>
          </a:solidFill>
          <a:ln w="12700">
            <a:solidFill>
              <a:srgbClr val="cdd4d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8"/>
          <p:cNvSpPr/>
          <p:nvPr/>
        </p:nvSpPr>
        <p:spPr>
          <a:xfrm>
            <a:off x="399960" y="4129920"/>
            <a:ext cx="5449680" cy="25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451"/>
              </a:spcAft>
            </a:pPr>
            <a:r>
              <a:rPr b="1" lang="en-US" sz="1800" spc="-1" strike="noStrike">
                <a:solidFill>
                  <a:srgbClr val="18382c"/>
                </a:solidFill>
                <a:latin typeface="Calibri"/>
              </a:rPr>
              <a:t>VanRakshak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6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Edge AI processing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6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Autonomous navigation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6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World model and mission memory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6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AI mission planning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6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Modular payload system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26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Multi-drone collaboration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FutCard 9"/>
          <p:cNvSpPr/>
          <p:nvPr/>
        </p:nvSpPr>
        <p:spPr>
          <a:xfrm>
            <a:off x="6309360" y="1143000"/>
            <a:ext cx="5348880" cy="565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d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6580080" y="1400040"/>
            <a:ext cx="4899600" cy="50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800" spc="-1" strike="noStrike">
                <a:solidFill>
                  <a:srgbClr val="4b7b5e"/>
                </a:solidFill>
                <a:latin typeface="Calibri"/>
              </a:rPr>
              <a:t>Future Improvements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9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Swarm coordination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9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Predictive wildfire monitoring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9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Satellite integration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9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Ranger body camera integration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457200">
              <a:lnSpc>
                <a:spcPct val="100000"/>
              </a:lnSpc>
              <a:spcAft>
                <a:spcPts val="499"/>
              </a:spcAft>
              <a:buClr>
                <a:srgbClr val="1f2523"/>
              </a:buClr>
              <a:buFont typeface="Arial"/>
              <a:buChar char="•"/>
            </a:pPr>
            <a:r>
              <a:rPr b="0" lang="en-US" sz="1300" spc="-1" strike="noStrike">
                <a:solidFill>
                  <a:srgbClr val="1f2523"/>
                </a:solidFill>
                <a:latin typeface="Calibri"/>
              </a:rPr>
              <a:t>Wildlife population analytics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LibreOffice/24.2.7.2$Linux_X86_64 LibreOffice_project/420$Build-2</Application>
  <AppVersion>15.0000</AppVersion>
  <Words>554</Words>
  <Paragraphs>110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2026-07-22T14:25:10Z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